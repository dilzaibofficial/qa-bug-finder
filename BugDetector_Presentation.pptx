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030" r:id="rId1"/>
  </p:sldMasterIdLst>
  <p:notesMasterIdLst>
    <p:notesMasterId r:id="rId33"/>
  </p:notesMasterIdLst>
  <p:handoutMasterIdLst>
    <p:handoutMasterId r:id="rId34"/>
  </p:handoutMasterIdLst>
  <p:sldIdLst>
    <p:sldId id="415" r:id="rId2"/>
    <p:sldId id="256" r:id="rId3"/>
    <p:sldId id="416" r:id="rId4"/>
    <p:sldId id="417" r:id="rId5"/>
    <p:sldId id="418" r:id="rId6"/>
    <p:sldId id="419" r:id="rId7"/>
    <p:sldId id="420" r:id="rId8"/>
    <p:sldId id="421" r:id="rId9"/>
    <p:sldId id="422" r:id="rId10"/>
    <p:sldId id="423" r:id="rId11"/>
    <p:sldId id="424" r:id="rId12"/>
    <p:sldId id="425" r:id="rId13"/>
    <p:sldId id="426" r:id="rId14"/>
    <p:sldId id="427" r:id="rId15"/>
    <p:sldId id="428" r:id="rId16"/>
    <p:sldId id="429" r:id="rId17"/>
    <p:sldId id="430" r:id="rId18"/>
    <p:sldId id="431" r:id="rId19"/>
    <p:sldId id="432" r:id="rId20"/>
    <p:sldId id="433" r:id="rId21"/>
    <p:sldId id="434" r:id="rId22"/>
    <p:sldId id="435" r:id="rId23"/>
    <p:sldId id="436" r:id="rId24"/>
    <p:sldId id="437" r:id="rId25"/>
    <p:sldId id="438" r:id="rId26"/>
    <p:sldId id="439" r:id="rId27"/>
    <p:sldId id="440" r:id="rId28"/>
    <p:sldId id="441" r:id="rId29"/>
    <p:sldId id="442" r:id="rId30"/>
    <p:sldId id="443" r:id="rId31"/>
    <p:sldId id="444" r:id="rId32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baidullah Anwar" initials="AA" lastIdx="5" clrIdx="0">
    <p:extLst>
      <p:ext uri="{19B8F6BF-5375-455C-9EA6-DF929625EA0E}">
        <p15:presenceInfo xmlns:p15="http://schemas.microsoft.com/office/powerpoint/2012/main" userId="S-1-5-21-2807140445-3290175154-747852135-246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044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838" autoAdjust="0"/>
    <p:restoredTop sz="79283" autoAdjust="0"/>
  </p:normalViewPr>
  <p:slideViewPr>
    <p:cSldViewPr snapToGrid="0">
      <p:cViewPr varScale="1">
        <p:scale>
          <a:sx n="52" d="100"/>
          <a:sy n="52" d="100"/>
        </p:scale>
        <p:origin x="1160" y="5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8604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commentAuthors" Target="comment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1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3B9BF8B-5DE5-4683-9086-813D7D9D9C2C}" type="datetimeFigureOut">
              <a:rPr lang="en-US" smtClean="0"/>
              <a:pPr/>
              <a:t>27/05/2026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87870C75-0CE0-4112-B062-B77B4E107A5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14125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1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FF7E6EC3-2045-4E0B-AEC9-6D8FD25FE102}" type="datetimeFigureOut">
              <a:rPr lang="en-US" smtClean="0"/>
              <a:pPr/>
              <a:t>27/05/2026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9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683674ED-BB51-41BC-868A-170A551A88B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7027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3674ED-BB51-41BC-868A-170A551A88BE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1420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fld id="{E2958715-E9F5-4077-9CFA-A1C12B9697F1}" type="datetime13">
              <a:rPr lang="en-US" smtClean="0"/>
              <a:t>12:09:42 AM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College of Computing &amp; Software Engineering- ZUFESTM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D1304-A9C3-4BA8-9160-82ABB3C9A1CE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64756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>
                <a:solidFill>
                  <a:schemeClr val="accent2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 marL="384048" indent="-182880">
              <a:buFont typeface="Wingdings" panose="05000000000000000000" pitchFamily="2" charset="2"/>
              <a:buChar char="q"/>
              <a:defRPr sz="24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56716" y="6459784"/>
            <a:ext cx="1528393" cy="365125"/>
          </a:xfrm>
          <a:prstGeom prst="rect">
            <a:avLst/>
          </a:prstGeom>
        </p:spPr>
        <p:txBody>
          <a:bodyPr/>
          <a:lstStyle/>
          <a:p>
            <a:fld id="{8A8067C8-3610-4B30-90BD-B62F52802A82}" type="datetime13">
              <a:rPr lang="en-US" smtClean="0"/>
              <a:t>12:09:43 AM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86345" y="6440390"/>
            <a:ext cx="8111537" cy="365125"/>
          </a:xfrm>
        </p:spPr>
        <p:txBody>
          <a:bodyPr/>
          <a:lstStyle>
            <a:lvl1pPr>
              <a:defRPr b="0"/>
            </a:lvl1pPr>
          </a:lstStyle>
          <a:p>
            <a:r>
              <a:rPr lang="en-US"/>
              <a:t>College of Computing &amp; Software Engineering- ZUFESTM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99666" y="6440391"/>
            <a:ext cx="1312025" cy="365125"/>
          </a:xfrm>
        </p:spPr>
        <p:txBody>
          <a:bodyPr/>
          <a:lstStyle/>
          <a:p>
            <a:fld id="{5D0D1304-A9C3-4BA8-9160-82ABB3C9A1CE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Picture 7"/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359"/>
            <a:ext cx="1528549" cy="140486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921403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 algn="r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60F130A0-3ED1-4AAC-955B-D8CD0E39C0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6716" y="6459784"/>
            <a:ext cx="1528393" cy="365125"/>
          </a:xfrm>
          <a:prstGeom prst="rect">
            <a:avLst/>
          </a:prstGeom>
        </p:spPr>
        <p:txBody>
          <a:bodyPr/>
          <a:lstStyle/>
          <a:p>
            <a:fld id="{8E55EF7E-3664-411B-B17D-47435194F3C2}" type="datetime13">
              <a:rPr lang="en-US" smtClean="0"/>
              <a:t>12:09:43 AM</a:t>
            </a:fld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07A2D77-ADEF-4C52-B1EF-CAEAC3A1B4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86345" y="6440390"/>
            <a:ext cx="8111537" cy="365125"/>
          </a:xfrm>
        </p:spPr>
        <p:txBody>
          <a:bodyPr/>
          <a:lstStyle>
            <a:lvl1pPr>
              <a:defRPr b="0"/>
            </a:lvl1pPr>
          </a:lstStyle>
          <a:p>
            <a:r>
              <a:rPr lang="en-US"/>
              <a:t>College of Computing &amp; Software Engineering- ZUFESTM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DB28E41E-4E9B-4A4F-A75F-E36CE2806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99666" y="6440391"/>
            <a:ext cx="1312025" cy="365125"/>
          </a:xfrm>
        </p:spPr>
        <p:txBody>
          <a:bodyPr/>
          <a:lstStyle/>
          <a:p>
            <a:fld id="{5D0D1304-A9C3-4BA8-9160-82ABB3C9A1C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683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1097280" y="1845734"/>
            <a:ext cx="4937760" cy="4023359"/>
          </a:xfrm>
        </p:spPr>
        <p:txBody>
          <a:bodyPr/>
          <a:lstStyle>
            <a:lvl1pPr>
              <a:defRPr sz="280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Date Placeholder 3">
            <a:extLst>
              <a:ext uri="{FF2B5EF4-FFF2-40B4-BE49-F238E27FC236}">
                <a16:creationId xmlns:a16="http://schemas.microsoft.com/office/drawing/2014/main" id="{60DA6378-BCE4-4A63-9A16-5C23A3E2E4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6716" y="6459784"/>
            <a:ext cx="1528393" cy="365125"/>
          </a:xfrm>
          <a:prstGeom prst="rect">
            <a:avLst/>
          </a:prstGeom>
        </p:spPr>
        <p:txBody>
          <a:bodyPr/>
          <a:lstStyle/>
          <a:p>
            <a:fld id="{ADC66968-D469-4BB3-AE8F-6DAE79F12CC6}" type="datetime13">
              <a:rPr lang="en-US" smtClean="0"/>
              <a:t>12:09:43 AM</a:t>
            </a:fld>
            <a:endParaRPr lang="en-US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AC016D18-144A-4819-9EED-DD95AA55E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86345" y="6440390"/>
            <a:ext cx="8111537" cy="365125"/>
          </a:xfrm>
        </p:spPr>
        <p:txBody>
          <a:bodyPr/>
          <a:lstStyle>
            <a:lvl1pPr>
              <a:defRPr b="0"/>
            </a:lvl1pPr>
          </a:lstStyle>
          <a:p>
            <a:r>
              <a:rPr lang="en-US"/>
              <a:t>College of Computing &amp; Software Engineering- ZUFESTM</a:t>
            </a:r>
            <a:endParaRPr lang="en-US" dirty="0"/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5B634C46-7608-4527-9ED2-1CE46634A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99666" y="6440391"/>
            <a:ext cx="1312025" cy="365125"/>
          </a:xfrm>
        </p:spPr>
        <p:txBody>
          <a:bodyPr/>
          <a:lstStyle/>
          <a:p>
            <a:fld id="{5D0D1304-A9C3-4BA8-9160-82ABB3C9A1C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4990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5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E8B396A6-CBA1-414E-8CDB-4A6AA7E105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6716" y="6459784"/>
            <a:ext cx="1528393" cy="365125"/>
          </a:xfrm>
          <a:prstGeom prst="rect">
            <a:avLst/>
          </a:prstGeom>
        </p:spPr>
        <p:txBody>
          <a:bodyPr/>
          <a:lstStyle/>
          <a:p>
            <a:fld id="{7268E905-6BF1-4944-9429-EF971271A1F9}" type="datetime13">
              <a:rPr lang="en-US" smtClean="0"/>
              <a:t>12:09:43 AM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62D94D7A-DFFF-4E8F-B6EC-AC1D031321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86345" y="6440390"/>
            <a:ext cx="8111537" cy="365125"/>
          </a:xfrm>
        </p:spPr>
        <p:txBody>
          <a:bodyPr/>
          <a:lstStyle>
            <a:lvl1pPr>
              <a:defRPr b="0"/>
            </a:lvl1pPr>
          </a:lstStyle>
          <a:p>
            <a:r>
              <a:rPr lang="en-US"/>
              <a:t>College of Computing &amp; Software Engineering- ZUFESTM</a:t>
            </a:r>
            <a:endParaRPr lang="en-US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D947905E-C6E7-4AA9-A047-FB821241D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99666" y="6440391"/>
            <a:ext cx="1312025" cy="365125"/>
          </a:xfrm>
        </p:spPr>
        <p:txBody>
          <a:bodyPr/>
          <a:lstStyle/>
          <a:p>
            <a:fld id="{5D0D1304-A9C3-4BA8-9160-82ABB3C9A1C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865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C1B69A3E-B9CC-4E49-AA9B-00C0A4ADF33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6716" y="6459784"/>
            <a:ext cx="1528393" cy="365125"/>
          </a:xfrm>
          <a:prstGeom prst="rect">
            <a:avLst/>
          </a:prstGeom>
        </p:spPr>
        <p:txBody>
          <a:bodyPr/>
          <a:lstStyle/>
          <a:p>
            <a:fld id="{C727AB41-863D-41C8-8A35-611CCBAFCBC6}" type="datetime13">
              <a:rPr lang="en-US" smtClean="0"/>
              <a:t>12:09:43 AM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ABAC8DD7-C1E8-4BBF-9F35-B08905C31F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86345" y="6440390"/>
            <a:ext cx="8111537" cy="365125"/>
          </a:xfrm>
        </p:spPr>
        <p:txBody>
          <a:bodyPr/>
          <a:lstStyle>
            <a:lvl1pPr>
              <a:defRPr b="0"/>
            </a:lvl1pPr>
          </a:lstStyle>
          <a:p>
            <a:r>
              <a:rPr lang="en-US"/>
              <a:t>College of Computing &amp; Software Engineering- ZUFESTM</a:t>
            </a:r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2EF7F2BE-5243-4D4F-8272-73BADEC9F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99666" y="6440391"/>
            <a:ext cx="1312025" cy="365125"/>
          </a:xfrm>
        </p:spPr>
        <p:txBody>
          <a:bodyPr/>
          <a:lstStyle/>
          <a:p>
            <a:fld id="{5D0D1304-A9C3-4BA8-9160-82ABB3C9A1C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1564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1AC4B682-96F7-4D7E-974F-CC37E681C4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6716" y="6459784"/>
            <a:ext cx="1528393" cy="365125"/>
          </a:xfrm>
          <a:prstGeom prst="rect">
            <a:avLst/>
          </a:prstGeom>
        </p:spPr>
        <p:txBody>
          <a:bodyPr/>
          <a:lstStyle/>
          <a:p>
            <a:fld id="{394D167E-8919-484F-A388-D38791552CD5}" type="datetime13">
              <a:rPr lang="en-US" smtClean="0"/>
              <a:t>12:09:43 AM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56E232D6-1C3C-439E-B36C-D8F7DD5D9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86345" y="6440390"/>
            <a:ext cx="8111537" cy="365125"/>
          </a:xfrm>
        </p:spPr>
        <p:txBody>
          <a:bodyPr/>
          <a:lstStyle>
            <a:lvl1pPr>
              <a:defRPr b="0"/>
            </a:lvl1pPr>
          </a:lstStyle>
          <a:p>
            <a:r>
              <a:rPr lang="en-US"/>
              <a:t>College of Computing &amp; Software Engineering- ZUFESTM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9D9687F8-3BA6-462A-9991-556DB4BA5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99666" y="6440391"/>
            <a:ext cx="1312025" cy="365125"/>
          </a:xfrm>
        </p:spPr>
        <p:txBody>
          <a:bodyPr/>
          <a:lstStyle/>
          <a:p>
            <a:fld id="{5D0D1304-A9C3-4BA8-9160-82ABB3C9A1C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749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0202423-99CB-463E-85F5-7D7115C204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6716" y="6459784"/>
            <a:ext cx="1528393" cy="365125"/>
          </a:xfrm>
          <a:prstGeom prst="rect">
            <a:avLst/>
          </a:prstGeom>
        </p:spPr>
        <p:txBody>
          <a:bodyPr/>
          <a:lstStyle/>
          <a:p>
            <a:fld id="{9C470322-69F3-46DF-BAEB-71916444555A}" type="datetime13">
              <a:rPr lang="en-US" smtClean="0"/>
              <a:t>12:09:43 AM</a:t>
            </a:fld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2623045E-341D-460C-8FBF-529E45508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86345" y="6440390"/>
            <a:ext cx="8111537" cy="365125"/>
          </a:xfrm>
        </p:spPr>
        <p:txBody>
          <a:bodyPr/>
          <a:lstStyle>
            <a:lvl1pPr>
              <a:defRPr b="0"/>
            </a:lvl1pPr>
          </a:lstStyle>
          <a:p>
            <a:r>
              <a:rPr lang="en-US"/>
              <a:t>College of Computing &amp; Software Engineering- ZUFESTM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5DD08586-C226-4213-A68F-CBA80D3E5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99666" y="6440391"/>
            <a:ext cx="1312025" cy="365125"/>
          </a:xfrm>
        </p:spPr>
        <p:txBody>
          <a:bodyPr/>
          <a:lstStyle/>
          <a:p>
            <a:fld id="{5D0D1304-A9C3-4BA8-9160-82ABB3C9A1C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479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FB265CBB-1C86-4604-8B67-F3F16590D0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6716" y="6459784"/>
            <a:ext cx="1528393" cy="365125"/>
          </a:xfrm>
          <a:prstGeom prst="rect">
            <a:avLst/>
          </a:prstGeom>
        </p:spPr>
        <p:txBody>
          <a:bodyPr/>
          <a:lstStyle/>
          <a:p>
            <a:fld id="{BBFEC683-AD33-4FE9-86A8-FC89A0F20670}" type="datetime13">
              <a:rPr lang="en-US" smtClean="0"/>
              <a:t>12:09:43 AM</a:t>
            </a:fld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AFC378ED-C2DC-491F-9A9A-30C075B1C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86345" y="6440390"/>
            <a:ext cx="8111537" cy="365125"/>
          </a:xfrm>
        </p:spPr>
        <p:txBody>
          <a:bodyPr/>
          <a:lstStyle>
            <a:lvl1pPr>
              <a:defRPr b="0"/>
            </a:lvl1pPr>
          </a:lstStyle>
          <a:p>
            <a:r>
              <a:rPr lang="en-US"/>
              <a:t>College of Computing &amp; Software Engineering- ZUFESTM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03D7A35-819D-4B6F-9453-2EB912E24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99666" y="6440391"/>
            <a:ext cx="1312025" cy="365125"/>
          </a:xfrm>
        </p:spPr>
        <p:txBody>
          <a:bodyPr/>
          <a:lstStyle/>
          <a:p>
            <a:fld id="{5D0D1304-A9C3-4BA8-9160-82ABB3C9A1C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2584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74E6B159-355C-4789-926C-4FD7F87102F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6716" y="6459784"/>
            <a:ext cx="1528393" cy="365125"/>
          </a:xfrm>
          <a:prstGeom prst="rect">
            <a:avLst/>
          </a:prstGeom>
        </p:spPr>
        <p:txBody>
          <a:bodyPr/>
          <a:lstStyle/>
          <a:p>
            <a:fld id="{CBCF0641-80D5-40A5-B5EC-B45E055A1B6E}" type="datetime13">
              <a:rPr lang="en-US" smtClean="0"/>
              <a:t>12:09:43 AM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D791710-41CD-4EB4-BBEE-08B4C3BAD6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86345" y="6440390"/>
            <a:ext cx="8111537" cy="365125"/>
          </a:xfrm>
        </p:spPr>
        <p:txBody>
          <a:bodyPr/>
          <a:lstStyle>
            <a:lvl1pPr>
              <a:defRPr b="0"/>
            </a:lvl1pPr>
          </a:lstStyle>
          <a:p>
            <a:r>
              <a:rPr lang="en-US"/>
              <a:t>College of Computing &amp; Software Engineering- ZUFESTM</a:t>
            </a:r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B678F0B-E469-4FA4-A9CA-2AB83A6ED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99666" y="6440391"/>
            <a:ext cx="1312025" cy="365125"/>
          </a:xfrm>
        </p:spPr>
        <p:txBody>
          <a:bodyPr/>
          <a:lstStyle/>
          <a:p>
            <a:fld id="{5D0D1304-A9C3-4BA8-9160-82ABB3C9A1C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725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A11D430D-DB82-4F0C-A13F-8B7814A156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6716" y="6459784"/>
            <a:ext cx="1528393" cy="365125"/>
          </a:xfrm>
          <a:prstGeom prst="rect">
            <a:avLst/>
          </a:prstGeom>
        </p:spPr>
        <p:txBody>
          <a:bodyPr/>
          <a:lstStyle/>
          <a:p>
            <a:fld id="{497CAE6B-F049-43EC-BD2A-C3C56FC34BAE}" type="datetime13">
              <a:rPr lang="en-US" smtClean="0"/>
              <a:t>12:09:43 AM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7D4F9982-83A3-4D06-9EE0-FF0752FD8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86345" y="6440390"/>
            <a:ext cx="8111537" cy="365125"/>
          </a:xfrm>
        </p:spPr>
        <p:txBody>
          <a:bodyPr/>
          <a:lstStyle>
            <a:lvl1pPr>
              <a:defRPr b="0"/>
            </a:lvl1pPr>
          </a:lstStyle>
          <a:p>
            <a:r>
              <a:rPr lang="en-US"/>
              <a:t>College of Computing &amp; Software Engineering- ZUFESTM</a:t>
            </a:r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AD608E0-6D42-47F9-A886-6AE83ED84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99666" y="6440391"/>
            <a:ext cx="1312025" cy="365125"/>
          </a:xfrm>
        </p:spPr>
        <p:txBody>
          <a:bodyPr/>
          <a:lstStyle/>
          <a:p>
            <a:fld id="{5D0D1304-A9C3-4BA8-9160-82ABB3C9A1C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104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28549" y="533400"/>
            <a:ext cx="9627130" cy="88582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8550" y="1633609"/>
            <a:ext cx="9627130" cy="4235485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6034" y="6459785"/>
            <a:ext cx="57819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 cap="all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College of Computing &amp; Software Engineering- ZUFESTM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rgbClr val="FFFFFF"/>
                </a:solidFill>
              </a:defRPr>
            </a:lvl1pPr>
          </a:lstStyle>
          <a:p>
            <a:fld id="{5D0D1304-A9C3-4BA8-9160-82ABB3C9A1CE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528549" y="1526417"/>
            <a:ext cx="962713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4548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31" r:id="rId1"/>
    <p:sldLayoutId id="2147484032" r:id="rId2"/>
    <p:sldLayoutId id="2147484033" r:id="rId3"/>
    <p:sldLayoutId id="2147484034" r:id="rId4"/>
    <p:sldLayoutId id="2147484035" r:id="rId5"/>
    <p:sldLayoutId id="2147484036" r:id="rId6"/>
    <p:sldLayoutId id="2147484037" r:id="rId7"/>
    <p:sldLayoutId id="2147484038" r:id="rId8"/>
    <p:sldLayoutId id="2147484039" r:id="rId9"/>
    <p:sldLayoutId id="2147484040" r:id="rId10"/>
    <p:sldLayoutId id="2147484041" r:id="rId11"/>
  </p:sldLayoutIdLst>
  <p:hf sldNum="0"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b="0" kern="1200" spc="-50" baseline="0">
          <a:solidFill>
            <a:schemeClr val="tx1">
              <a:lumMod val="75000"/>
              <a:lumOff val="25000"/>
            </a:schemeClr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+mn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Wingdings" panose="05000000000000000000" pitchFamily="2" charset="2"/>
        <a:buChar char="q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AutoShape 2" descr="Image result for image of bismillah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sp>
        <p:nvSpPr>
          <p:cNvPr id="1028" name="AutoShape 4" descr="Image result for image of bismillah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 rotWithShape="1">
          <a:blip r:embed="rId2"/>
          <a:srcRect l="971" b="7831"/>
          <a:stretch/>
        </p:blipFill>
        <p:spPr bwMode="auto">
          <a:xfrm>
            <a:off x="1171575" y="876300"/>
            <a:ext cx="9946379" cy="44529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08127FC-713D-D231-38DA-AAB0280C7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College of Computing &amp; Software Engineering- ZUFESTM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2744" y="398451"/>
            <a:ext cx="9813331" cy="1193308"/>
          </a:xfrm>
        </p:spPr>
        <p:txBody>
          <a:bodyPr>
            <a:normAutofit/>
          </a:bodyPr>
          <a:lstStyle/>
          <a:p>
            <a:pPr algn="ctr"/>
            <a:r>
              <a:rPr lang="en-US" sz="3800" dirty="0"/>
              <a:t>AI-Powered Bug Detection Platform</a:t>
            </a:r>
            <a:endParaRPr lang="en-US" sz="5400" dirty="0">
              <a:solidFill>
                <a:srgbClr val="0070C0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6542" y="1966602"/>
            <a:ext cx="10705737" cy="2349367"/>
          </a:xfrm>
        </p:spPr>
        <p:txBody>
          <a:bodyPr>
            <a:normAutofit/>
          </a:bodyPr>
          <a:lstStyle/>
          <a:p>
            <a:pPr algn="r"/>
            <a:endParaRPr lang="en-US" sz="3200" b="1" dirty="0">
              <a:solidFill>
                <a:srgbClr val="0070C0"/>
              </a:solidFill>
            </a:endParaRPr>
          </a:p>
          <a:p>
            <a:pPr algn="ctr"/>
            <a:r>
              <a:rPr lang="en-US" sz="2200" b="1" dirty="0">
                <a:solidFill>
                  <a:srgbClr val="0070C0"/>
                </a:solidFill>
              </a:rPr>
              <a:t>Group Members:  Zainab  |  Hamna  |  </a:t>
            </a:r>
          </a:p>
          <a:p>
            <a:pPr algn="ctr"/>
            <a:r>
              <a:rPr lang="en-US" b="1" dirty="0">
                <a:solidFill>
                  <a:srgbClr val="0070C0"/>
                </a:solidFill>
              </a:rPr>
              <a:t>Supervised By:  [Supervisor Name]</a:t>
            </a:r>
          </a:p>
          <a:p>
            <a:pPr algn="ctr"/>
            <a:r>
              <a:rPr lang="en-US" b="1" dirty="0">
                <a:solidFill>
                  <a:srgbClr val="0070C0"/>
                </a:solidFill>
              </a:rPr>
              <a:t>Co-Supervisor:  [Co-Supervisor Name]</a:t>
            </a:r>
            <a:r>
              <a:rPr lang="en-US" sz="3200" b="1" dirty="0">
                <a:solidFill>
                  <a:srgbClr val="0070C0"/>
                </a:solidFill>
              </a:rPr>
              <a:t>:</a:t>
            </a:r>
          </a:p>
        </p:txBody>
      </p:sp>
      <p:pic>
        <p:nvPicPr>
          <p:cNvPr id="5" name="Picture 4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90560" y="-2"/>
            <a:ext cx="1872211" cy="1739901"/>
          </a:xfrm>
          <a:prstGeom prst="rect">
            <a:avLst/>
          </a:prstGeom>
          <a:noFill/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E6E613-227C-0C4E-65B8-7BEC8E902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College of Computing &amp; Software Engineering- ZUFESTM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51142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070C0"/>
                </a:solidFill>
              </a:rPr>
              <a:t>Table of 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10332720" cy="12700"/>
          </a:xfrm>
          <a:prstGeom prst="rect">
            <a:avLst/>
          </a:prstGeom>
          <a:noFill/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245352"/>
            <a:ext cx="12188952" cy="6126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COLLEGE OF COMPUTING &amp; SOFTWARE ENGINEERING- ZUFESTM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371600"/>
            <a:ext cx="9601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900" b="1">
                <a:solidFill>
                  <a:srgbClr val="0070C0"/>
                </a:solidFill>
              </a:rPr>
              <a:t>1.   Introduction — What is this project?</a:t>
            </a:r>
          </a:p>
          <a:p>
            <a:pPr algn="l">
              <a:spcBef>
                <a:spcPts val="200"/>
              </a:spcBef>
            </a:pPr>
            <a:r>
              <a:rPr sz="1900" b="1">
                <a:solidFill>
                  <a:srgbClr val="0070C0"/>
                </a:solidFill>
              </a:rPr>
              <a:t>2.   The Problem We Solve</a:t>
            </a:r>
          </a:p>
          <a:p>
            <a:pPr algn="l">
              <a:spcBef>
                <a:spcPts val="200"/>
              </a:spcBef>
            </a:pPr>
            <a:r>
              <a:rPr sz="1900" b="1">
                <a:solidFill>
                  <a:srgbClr val="0070C0"/>
                </a:solidFill>
              </a:rPr>
              <a:t>3.   How It Works — Step by Step</a:t>
            </a:r>
          </a:p>
          <a:p>
            <a:pPr algn="l">
              <a:spcBef>
                <a:spcPts val="200"/>
              </a:spcBef>
            </a:pPr>
            <a:r>
              <a:rPr sz="1900" b="1">
                <a:solidFill>
                  <a:srgbClr val="0070C0"/>
                </a:solidFill>
              </a:rPr>
              <a:t>4.   Datasets Used for Training the AI</a:t>
            </a:r>
          </a:p>
          <a:p>
            <a:pPr algn="l">
              <a:spcBef>
                <a:spcPts val="200"/>
              </a:spcBef>
            </a:pPr>
            <a:r>
              <a:rPr sz="1900" b="1">
                <a:solidFill>
                  <a:srgbClr val="0070C0"/>
                </a:solidFill>
              </a:rPr>
              <a:t>5.   AI Models Explained in Simple Language</a:t>
            </a:r>
          </a:p>
          <a:p>
            <a:pPr algn="l">
              <a:spcBef>
                <a:spcPts val="200"/>
              </a:spcBef>
            </a:pPr>
            <a:r>
              <a:rPr sz="1900" b="1">
                <a:solidFill>
                  <a:srgbClr val="0070C0"/>
                </a:solidFill>
              </a:rPr>
              <a:t>6.   Platform Walkthrough (Screenshots)</a:t>
            </a:r>
          </a:p>
          <a:p>
            <a:pPr algn="l">
              <a:spcBef>
                <a:spcPts val="200"/>
              </a:spcBef>
            </a:pPr>
            <a:r>
              <a:rPr sz="1900" b="1">
                <a:solidFill>
                  <a:srgbClr val="0070C0"/>
                </a:solidFill>
              </a:rPr>
              <a:t>7.   System Design Diagrams</a:t>
            </a:r>
          </a:p>
          <a:p>
            <a:pPr algn="l">
              <a:spcBef>
                <a:spcPts val="200"/>
              </a:spcBef>
            </a:pPr>
            <a:r>
              <a:rPr sz="1900" b="1">
                <a:solidFill>
                  <a:srgbClr val="0070C0"/>
                </a:solidFill>
              </a:rPr>
              <a:t>8.   How to Run the Project Locally</a:t>
            </a:r>
          </a:p>
          <a:p>
            <a:pPr algn="l">
              <a:spcBef>
                <a:spcPts val="200"/>
              </a:spcBef>
            </a:pPr>
            <a:r>
              <a:rPr sz="1900" b="1">
                <a:solidFill>
                  <a:srgbClr val="0070C0"/>
                </a:solidFill>
              </a:rPr>
              <a:t>9.   Future Plans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245352"/>
            <a:ext cx="12188952" cy="6126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COLLEGE OF COMPUTING &amp; SOFTWARE ENGINEERING- ZUFESTM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560320"/>
            <a:ext cx="10332720" cy="12700"/>
          </a:xfrm>
          <a:prstGeom prst="rect">
            <a:avLst/>
          </a:prstGeom>
          <a:noFill/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070C0"/>
                </a:solidFill>
              </a:rPr>
              <a:t>Introduction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070C0"/>
                </a:solidFill>
              </a:rPr>
              <a:t>What is this Project?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10332720" cy="12700"/>
          </a:xfrm>
          <a:prstGeom prst="rect">
            <a:avLst/>
          </a:prstGeom>
          <a:noFill/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245352"/>
            <a:ext cx="12188952" cy="6126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COLLEGE OF COMPUTING &amp; SOFTWARE ENGINEERING- ZUFESTM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6400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The Bug Detector is a smart AI system that automatically finds errors (bugs) in software code.</a:t>
            </a:r>
          </a:p>
          <a:p>
            <a:pPr algn="l">
              <a:spcBef>
                <a:spcPts val="200"/>
              </a:spcBef>
            </a:pPr>
            <a:endParaRPr sz="1500" b="0">
              <a:solidFill>
                <a:srgbClr val="404040"/>
              </a:solidFill>
            </a:endParaRP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A developer or QA engineer uploads their code file or log file to the platform.</a:t>
            </a:r>
          </a:p>
          <a:p>
            <a:pPr algn="l">
              <a:spcBef>
                <a:spcPts val="200"/>
              </a:spcBef>
            </a:pPr>
            <a:endParaRPr sz="1500" b="0">
              <a:solidFill>
                <a:srgbClr val="404040"/>
              </a:solidFill>
            </a:endParaRP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The AI instantly scans the file and tells you:</a:t>
            </a: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   Type of bug  (Crash / Logical / Performance / UI)</a:t>
            </a: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   How serious it is  (Critical / High / Medium / Low)</a:t>
            </a: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   Which line of code has the problem</a:t>
            </a: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   How to fix it</a:t>
            </a: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   Who is responsible for fixing it</a:t>
            </a:r>
          </a:p>
          <a:p>
            <a:pPr algn="l">
              <a:spcBef>
                <a:spcPts val="200"/>
              </a:spcBef>
            </a:pPr>
            <a:endParaRPr sz="1500" b="0">
              <a:solidFill>
                <a:srgbClr val="404040"/>
              </a:solidFill>
            </a:endParaRP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No manual code review needed — the AI does it all automatically.</a:t>
            </a:r>
          </a:p>
        </p:txBody>
      </p:sp>
      <p:pic>
        <p:nvPicPr>
          <p:cNvPr id="6" name="Picture 5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371600"/>
            <a:ext cx="4937760" cy="236532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245352"/>
            <a:ext cx="12188952" cy="6126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COLLEGE OF COMPUTING &amp; SOFTWARE ENGINEERING- ZUFESTM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560320"/>
            <a:ext cx="10332720" cy="12700"/>
          </a:xfrm>
          <a:prstGeom prst="rect">
            <a:avLst/>
          </a:prstGeom>
          <a:noFill/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070C0"/>
                </a:solidFill>
              </a:rPr>
              <a:t>The Problem We Solve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070C0"/>
                </a:solidFill>
              </a:rPr>
              <a:t>Old Way vs Our AI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10332720" cy="12700"/>
          </a:xfrm>
          <a:prstGeom prst="rect">
            <a:avLst/>
          </a:prstGeom>
          <a:noFill/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245352"/>
            <a:ext cx="12188952" cy="6126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COLLEGE OF COMPUTING &amp; SOFTWARE ENGINEERING- ZUFESTM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8016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500" b="1">
                <a:solidFill>
                  <a:srgbClr val="0070C0"/>
                </a:solidFill>
              </a:rPr>
              <a:t>OLD WAY (Manual Review)</a:t>
            </a:r>
          </a:p>
          <a:p>
            <a:pPr algn="l">
              <a:spcBef>
                <a:spcPts val="200"/>
              </a:spcBef>
            </a:pPr>
            <a:endParaRPr sz="1500" b="1">
              <a:solidFill>
                <a:srgbClr val="0070C0"/>
              </a:solidFill>
            </a:endParaRP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Developers manually read thousands of lines to find bugs.</a:t>
            </a:r>
          </a:p>
          <a:p>
            <a:pPr algn="l">
              <a:spcBef>
                <a:spcPts val="200"/>
              </a:spcBef>
            </a:pPr>
            <a:endParaRPr sz="1500" b="0">
              <a:solidFill>
                <a:srgbClr val="404040"/>
              </a:solidFill>
            </a:endParaRP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Takes days or weeks — very expensive.</a:t>
            </a:r>
          </a:p>
          <a:p>
            <a:pPr algn="l">
              <a:spcBef>
                <a:spcPts val="200"/>
              </a:spcBef>
            </a:pPr>
            <a:endParaRPr sz="1500" b="0">
              <a:solidFill>
                <a:srgbClr val="404040"/>
              </a:solidFill>
            </a:endParaRP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Human reviewers miss many bugs in large projects.</a:t>
            </a:r>
          </a:p>
          <a:p>
            <a:pPr algn="l">
              <a:spcBef>
                <a:spcPts val="200"/>
              </a:spcBef>
            </a:pPr>
            <a:endParaRPr sz="1500" b="0">
              <a:solidFill>
                <a:srgbClr val="404040"/>
              </a:solidFill>
            </a:endParaRP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No clear record of bugs found and fixed.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28016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500" b="1">
                <a:solidFill>
                  <a:srgbClr val="0070C0"/>
                </a:solidFill>
              </a:rPr>
              <a:t>OUR SOLUTION (AI-Powered)</a:t>
            </a:r>
          </a:p>
          <a:p>
            <a:pPr algn="l">
              <a:spcBef>
                <a:spcPts val="200"/>
              </a:spcBef>
            </a:pPr>
            <a:endParaRPr sz="1500" b="1">
              <a:solidFill>
                <a:srgbClr val="0070C0"/>
              </a:solidFill>
            </a:endParaRP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Upload any code file — AI scans it in seconds.</a:t>
            </a:r>
          </a:p>
          <a:p>
            <a:pPr algn="l">
              <a:spcBef>
                <a:spcPts val="200"/>
              </a:spcBef>
            </a:pPr>
            <a:endParaRPr sz="1500" b="0">
              <a:solidFill>
                <a:srgbClr val="404040"/>
              </a:solidFill>
            </a:endParaRP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87% accuracy in detecting if a file has bugs.</a:t>
            </a:r>
          </a:p>
          <a:p>
            <a:pPr algn="l">
              <a:spcBef>
                <a:spcPts val="200"/>
              </a:spcBef>
            </a:pPr>
            <a:endParaRPr sz="1500" b="0">
              <a:solidFill>
                <a:srgbClr val="404040"/>
              </a:solidFill>
            </a:endParaRP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99% accuracy in classifying the type of bug.</a:t>
            </a:r>
          </a:p>
          <a:p>
            <a:pPr algn="l">
              <a:spcBef>
                <a:spcPts val="200"/>
              </a:spcBef>
            </a:pPr>
            <a:endParaRPr sz="1500" b="0">
              <a:solidFill>
                <a:srgbClr val="404040"/>
              </a:solidFill>
            </a:endParaRP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Full history of all past analyses kept safely.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1280160"/>
            <a:ext cx="12700" cy="45720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245352"/>
            <a:ext cx="12188952" cy="6126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COLLEGE OF COMPUTING &amp; SOFTWARE ENGINEERING- ZUFESTM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560320"/>
            <a:ext cx="10332720" cy="12700"/>
          </a:xfrm>
          <a:prstGeom prst="rect">
            <a:avLst/>
          </a:prstGeom>
          <a:noFill/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070C0"/>
                </a:solidFill>
              </a:rPr>
              <a:t>How It Works — Step by Step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070C0"/>
                </a:solidFill>
              </a:rPr>
              <a:t>How It Works — 7 Simple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10332720" cy="12700"/>
          </a:xfrm>
          <a:prstGeom prst="rect">
            <a:avLst/>
          </a:prstGeom>
          <a:noFill/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245352"/>
            <a:ext cx="12188952" cy="6126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COLLEGE OF COMPUTING &amp; SOFTWARE ENGINEERING- ZUFESTM</a:t>
            </a:r>
          </a:p>
        </p:txBody>
      </p:sp>
      <p:pic>
        <p:nvPicPr>
          <p:cNvPr id="5" name="Picture 4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25880"/>
            <a:ext cx="11612880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245352"/>
            <a:ext cx="12188952" cy="6126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COLLEGE OF COMPUTING &amp; SOFTWARE ENGINEERING- ZUFESTM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560320"/>
            <a:ext cx="10332720" cy="12700"/>
          </a:xfrm>
          <a:prstGeom prst="rect">
            <a:avLst/>
          </a:prstGeom>
          <a:noFill/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070C0"/>
                </a:solidFill>
              </a:rPr>
              <a:t>Datasets Used to Train the 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070C0"/>
                </a:solidFill>
              </a:rPr>
              <a:t>Datasets Used to Train the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10332720" cy="12700"/>
          </a:xfrm>
          <a:prstGeom prst="rect">
            <a:avLst/>
          </a:prstGeom>
          <a:noFill/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245352"/>
            <a:ext cx="12188952" cy="6126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COLLEGE OF COMPUTING &amp; SOFTWARE ENGINEERING- ZUFESTM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2588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400" b="1">
                <a:solidFill>
                  <a:srgbClr val="0070C0"/>
                </a:solidFill>
              </a:rPr>
              <a:t>Dataset 1: NASA Software Defect Dataset</a:t>
            </a:r>
          </a:p>
          <a:p>
            <a:pPr algn="l">
              <a:spcBef>
                <a:spcPts val="200"/>
              </a:spcBef>
            </a:pPr>
            <a:endParaRPr sz="1400" b="1">
              <a:solidFill>
                <a:srgbClr val="0070C0"/>
              </a:solidFill>
            </a:endParaRP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File name:  nasa_combined.csv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Source: NASA publicly released real project data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Contains data from real NASA space software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Tells the AI: Is this file buggy or clean? (Yes/No)</a:t>
            </a:r>
          </a:p>
          <a:p>
            <a:pPr algn="l">
              <a:spcBef>
                <a:spcPts val="200"/>
              </a:spcBef>
            </a:pPr>
            <a:endParaRPr sz="1400" b="0">
              <a:solidFill>
                <a:srgbClr val="404040"/>
              </a:solidFill>
            </a:endParaRP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Total records used for training: ~17,000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2588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400" b="1">
                <a:solidFill>
                  <a:srgbClr val="0070C0"/>
                </a:solidFill>
              </a:rPr>
              <a:t>Dataset 2: CK Metrics Dataset</a:t>
            </a:r>
          </a:p>
          <a:p>
            <a:pPr algn="l">
              <a:spcBef>
                <a:spcPts val="200"/>
              </a:spcBef>
            </a:pPr>
            <a:endParaRPr sz="1400" b="1">
              <a:solidFill>
                <a:srgbClr val="0070C0"/>
              </a:solidFill>
            </a:endParaRP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File name:  ck_combined.csv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CK = Chidamber &amp; Kemerer (famous researchers)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Measures 20 qualities of code, for example: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   WMC — How complex is this code?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   LOC — How many lines of code?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   CBO — How many other files does it depend on?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   RFC — How many functions are called?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Teaches AI: What TYPE of bug is this?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1280160"/>
            <a:ext cx="12700" cy="45720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245352"/>
            <a:ext cx="12188952" cy="6126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COLLEGE OF COMPUTING &amp; SOFTWARE ENGINEERING- ZUFESTM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560320"/>
            <a:ext cx="10332720" cy="12700"/>
          </a:xfrm>
          <a:prstGeom prst="rect">
            <a:avLst/>
          </a:prstGeom>
          <a:noFill/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070C0"/>
                </a:solidFill>
              </a:rPr>
              <a:t>AI Models — The Brain of the System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070C0"/>
                </a:solidFill>
              </a:rPr>
              <a:t>Model 1: Bug Detection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10332720" cy="12700"/>
          </a:xfrm>
          <a:prstGeom prst="rect">
            <a:avLst/>
          </a:prstGeom>
          <a:noFill/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245352"/>
            <a:ext cx="12188952" cy="6126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COLLEGE OF COMPUTING &amp; SOFTWARE ENGINEERING- ZUFESTM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25880"/>
            <a:ext cx="7132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400" b="1">
                <a:solidFill>
                  <a:srgbClr val="0070C0"/>
                </a:solidFill>
              </a:rPr>
              <a:t>What does it do?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    Reads the code file and decides: Does this file have a bug? (Yes or No)</a:t>
            </a:r>
          </a:p>
          <a:p>
            <a:pPr algn="l">
              <a:spcBef>
                <a:spcPts val="200"/>
              </a:spcBef>
            </a:pPr>
            <a:endParaRPr sz="1400" b="0">
              <a:solidFill>
                <a:srgbClr val="404040"/>
              </a:solidFill>
            </a:endParaRPr>
          </a:p>
          <a:p>
            <a:pPr algn="l">
              <a:spcBef>
                <a:spcPts val="200"/>
              </a:spcBef>
            </a:pPr>
            <a:r>
              <a:rPr sz="1400" b="1">
                <a:solidFill>
                  <a:srgbClr val="0070C0"/>
                </a:solidFill>
              </a:rPr>
              <a:t>How was it built?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    We trained 3 AI algorithms together (called an 'Ensemble'):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    XGBoost — A very powerful prediction algorithm (weight: 3)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    Random Forest — Like a group of experts voting together (weight: 2)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    Gradient Boosting — Learns from past mistakes step by step (weight: 2)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    Combining all 3 gives much better accuracy than one alone.</a:t>
            </a:r>
          </a:p>
          <a:p>
            <a:pPr algn="l">
              <a:spcBef>
                <a:spcPts val="200"/>
              </a:spcBef>
            </a:pPr>
            <a:endParaRPr sz="1400" b="0">
              <a:solidFill>
                <a:srgbClr val="404040"/>
              </a:solidFill>
            </a:endParaRPr>
          </a:p>
          <a:p>
            <a:pPr algn="l">
              <a:spcBef>
                <a:spcPts val="200"/>
              </a:spcBef>
            </a:pPr>
            <a:r>
              <a:rPr sz="1400" b="1">
                <a:solidFill>
                  <a:srgbClr val="0070C0"/>
                </a:solidFill>
              </a:rPr>
              <a:t>How accurate is it?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    AUC Score: 87%   (AUC = how well it separates buggy vs clean code)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    Trained on: 12,454 real software records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    Uses 35 different code measurements to make its decision</a:t>
            </a:r>
          </a:p>
        </p:txBody>
      </p:sp>
      <p:pic>
        <p:nvPicPr>
          <p:cNvPr id="6" name="Picture 5" descr="improved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371600"/>
            <a:ext cx="4297680" cy="35814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070C0"/>
                </a:solidFill>
              </a:rPr>
              <a:t>Model 2: Bug Type Classifier (99% Accurate)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10332720" cy="12700"/>
          </a:xfrm>
          <a:prstGeom prst="rect">
            <a:avLst/>
          </a:prstGeom>
          <a:noFill/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245352"/>
            <a:ext cx="12188952" cy="6126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COLLEGE OF COMPUTING &amp; SOFTWARE ENGINEERING- ZUFESTM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25880"/>
            <a:ext cx="72237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400" b="1">
                <a:solidFill>
                  <a:srgbClr val="0070C0"/>
                </a:solidFill>
              </a:rPr>
              <a:t>What does it do?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    Once a bug is found, it tells you WHAT TYPE of bug it is.</a:t>
            </a:r>
          </a:p>
          <a:p>
            <a:pPr algn="l">
              <a:spcBef>
                <a:spcPts val="200"/>
              </a:spcBef>
            </a:pPr>
            <a:endParaRPr sz="1400" b="0">
              <a:solidFill>
                <a:srgbClr val="404040"/>
              </a:solidFill>
            </a:endParaRPr>
          </a:p>
          <a:p>
            <a:pPr algn="l">
              <a:spcBef>
                <a:spcPts val="200"/>
              </a:spcBef>
            </a:pPr>
            <a:r>
              <a:rPr sz="1400" b="1">
                <a:solidFill>
                  <a:srgbClr val="0070C0"/>
                </a:solidFill>
              </a:rPr>
              <a:t>4 Bug Types it identifies: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    Crash Bug         The app will stop working / crash completely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    Logical Bug       Wrong answer, incorrect calculation, wrong output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    Performance Bug   App runs slowly or uses too much memory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    UI Bug            Something looks wrong on the screen</a:t>
            </a:r>
          </a:p>
          <a:p>
            <a:pPr algn="l">
              <a:spcBef>
                <a:spcPts val="200"/>
              </a:spcBef>
            </a:pPr>
            <a:endParaRPr sz="1400" b="0">
              <a:solidFill>
                <a:srgbClr val="404040"/>
              </a:solidFill>
            </a:endParaRPr>
          </a:p>
          <a:p>
            <a:pPr algn="l">
              <a:spcBef>
                <a:spcPts val="200"/>
              </a:spcBef>
            </a:pPr>
            <a:r>
              <a:rPr sz="1400" b="1">
                <a:solidFill>
                  <a:srgbClr val="0070C0"/>
                </a:solidFill>
              </a:rPr>
              <a:t>Algorithm used: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    Random Forest Classifier — a group of decision trees voting together</a:t>
            </a:r>
          </a:p>
          <a:p>
            <a:pPr algn="l">
              <a:spcBef>
                <a:spcPts val="200"/>
              </a:spcBef>
            </a:pPr>
            <a:endParaRPr sz="1400" b="0">
              <a:solidFill>
                <a:srgbClr val="404040"/>
              </a:solidFill>
            </a:endParaRPr>
          </a:p>
          <a:p>
            <a:pPr algn="l">
              <a:spcBef>
                <a:spcPts val="200"/>
              </a:spcBef>
            </a:pPr>
            <a:r>
              <a:rPr sz="1400" b="1">
                <a:solidFill>
                  <a:srgbClr val="0070C0"/>
                </a:solidFill>
              </a:rPr>
              <a:t>Accuracy: 99.09% — nearly perfect!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    Trained on 3,200 labeled examples</a:t>
            </a:r>
          </a:p>
        </p:txBody>
      </p:sp>
      <p:pic>
        <p:nvPicPr>
          <p:cNvPr id="6" name="Picture 5" descr="bug_type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371600"/>
            <a:ext cx="4297680" cy="368372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070C0"/>
                </a:solidFill>
              </a:rPr>
              <a:t>What the AI Looks At — Top Code Signals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10332720" cy="12700"/>
          </a:xfrm>
          <a:prstGeom prst="rect">
            <a:avLst/>
          </a:prstGeom>
          <a:noFill/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245352"/>
            <a:ext cx="12188952" cy="6126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COLLEGE OF COMPUTING &amp; SOFTWARE ENGINEERING- ZUFESTM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2588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The AI looks at 20 measurements of code quality.</a:t>
            </a: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These are the most important signals for bug detection:</a:t>
            </a:r>
          </a:p>
          <a:p>
            <a:pPr algn="l">
              <a:spcBef>
                <a:spcPts val="200"/>
              </a:spcBef>
            </a:pPr>
            <a:endParaRPr sz="1500" b="0">
              <a:solidFill>
                <a:srgbClr val="404040"/>
              </a:solidFill>
            </a:endParaRP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WMC  — Code complexity (most important!)</a:t>
            </a: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LOC  — Total lines of code</a:t>
            </a: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CBO  — Number of connections to other code files</a:t>
            </a: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DIT  — Depth of class inheritance</a:t>
            </a: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RFC  — How many different functions are called</a:t>
            </a:r>
          </a:p>
          <a:p>
            <a:pPr algn="l">
              <a:spcBef>
                <a:spcPts val="200"/>
              </a:spcBef>
            </a:pPr>
            <a:endParaRPr sz="1500" b="0">
              <a:solidFill>
                <a:srgbClr val="404040"/>
              </a:solidFill>
            </a:endParaRP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0070C0"/>
                </a:solidFill>
              </a:rPr>
              <a:t>Rule of thumb:</a:t>
            </a: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Higher values = more complex code = higher risk of bugs</a:t>
            </a:r>
          </a:p>
        </p:txBody>
      </p:sp>
      <p:pic>
        <p:nvPicPr>
          <p:cNvPr id="6" name="Picture 5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188720"/>
            <a:ext cx="6675120" cy="50063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070C0"/>
                </a:solidFill>
              </a:rPr>
              <a:t>Model 3: Claude AI Enhancement (Optional Feature)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10332720" cy="12700"/>
          </a:xfrm>
          <a:prstGeom prst="rect">
            <a:avLst/>
          </a:prstGeom>
          <a:noFill/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245352"/>
            <a:ext cx="12188952" cy="6126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COLLEGE OF COMPUTING &amp; SOFTWARE ENGINEERING- ZUFESTM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2588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500" b="1">
                <a:solidFill>
                  <a:srgbClr val="0070C0"/>
                </a:solidFill>
              </a:rPr>
              <a:t>What is Claude AI?</a:t>
            </a: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    Claude is a powerful AI assistant made by Anthropic.</a:t>
            </a: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    We use the Claude Haiku version — fast, smart, and affordable.</a:t>
            </a:r>
          </a:p>
          <a:p>
            <a:pPr algn="l">
              <a:spcBef>
                <a:spcPts val="200"/>
              </a:spcBef>
            </a:pPr>
            <a:endParaRPr sz="1500" b="0">
              <a:solidFill>
                <a:srgbClr val="404040"/>
              </a:solidFill>
            </a:endParaRP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0070C0"/>
                </a:solidFill>
              </a:rPr>
              <a:t>What does it add on top of our ML models?</a:t>
            </a: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    Enhanced Description  — A clear 2-sentence explanation of the bug</a:t>
            </a: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    Technical Reason      — Why the AI flagged this specific code</a:t>
            </a: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    Corrected Code        — The actual fixed version of the buggy line</a:t>
            </a: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    Fix Explanation       — What was changed and why</a:t>
            </a:r>
          </a:p>
          <a:p>
            <a:pPr algn="l">
              <a:spcBef>
                <a:spcPts val="200"/>
              </a:spcBef>
            </a:pPr>
            <a:endParaRPr sz="1500" b="0">
              <a:solidFill>
                <a:srgbClr val="404040"/>
              </a:solidFill>
            </a:endParaRP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0070C0"/>
                </a:solidFill>
              </a:rPr>
              <a:t>How to enable it?</a:t>
            </a: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    Go to Settings &gt; Enable Claude AI Mode &gt; Upload your file</a:t>
            </a: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    Analysis takes a bit longer but gives much richer reports.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0" y="2011680"/>
            <a:ext cx="3566160" cy="3474720"/>
          </a:xfrm>
          <a:prstGeom prst="rect">
            <a:avLst/>
          </a:prstGeom>
          <a:solidFill>
            <a:srgbClr val="F3E8FF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7C3AED"/>
                </a:solidFill>
              </a:rPr>
              <a:t>Claude AI Output Example</a:t>
            </a:r>
          </a:p>
          <a:p>
            <a:endParaRPr sz="1300" b="1">
              <a:solidFill>
                <a:srgbClr val="7C3AED"/>
              </a:solidFill>
            </a:endParaRPr>
          </a:p>
          <a:p>
            <a:r>
              <a:rPr sz="1200">
                <a:solidFill>
                  <a:srgbClr val="404040"/>
                </a:solidFill>
              </a:rPr>
              <a:t>Bug found: Null Pointer</a:t>
            </a:r>
          </a:p>
          <a:p>
            <a:r>
              <a:rPr sz="1200">
                <a:solidFill>
                  <a:srgbClr val="404040"/>
                </a:solidFill>
              </a:rPr>
              <a:t>at line 45</a:t>
            </a:r>
          </a:p>
          <a:p>
            <a:endParaRPr sz="1200">
              <a:solidFill>
                <a:srgbClr val="404040"/>
              </a:solidFill>
            </a:endParaRPr>
          </a:p>
          <a:p>
            <a:r>
              <a:rPr sz="1200">
                <a:solidFill>
                  <a:srgbClr val="404040"/>
                </a:solidFill>
              </a:rPr>
              <a:t>Fixed code:</a:t>
            </a:r>
          </a:p>
          <a:p>
            <a:r>
              <a:rPr sz="1200">
                <a:solidFill>
                  <a:srgbClr val="404040"/>
                </a:solidFill>
              </a:rPr>
              <a:t>if (obj != null) {</a:t>
            </a:r>
          </a:p>
          <a:p>
            <a:endParaRPr sz="1200">
              <a:solidFill>
                <a:srgbClr val="404040"/>
              </a:solidFill>
            </a:endParaRPr>
          </a:p>
          <a:p>
            <a:r>
              <a:rPr sz="1200">
                <a:solidFill>
                  <a:srgbClr val="404040"/>
                </a:solidFill>
              </a:rPr>
              <a:t>Reason: Object used</a:t>
            </a:r>
          </a:p>
          <a:p>
            <a:r>
              <a:rPr sz="1200">
                <a:solidFill>
                  <a:srgbClr val="404040"/>
                </a:solidFill>
              </a:rPr>
              <a:t>without null-check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245352"/>
            <a:ext cx="12188952" cy="6126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COLLEGE OF COMPUTING &amp; SOFTWARE ENGINEERING- ZUFESTM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560320"/>
            <a:ext cx="10332720" cy="12700"/>
          </a:xfrm>
          <a:prstGeom prst="rect">
            <a:avLst/>
          </a:prstGeom>
          <a:noFill/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070C0"/>
                </a:solidFill>
              </a:rPr>
              <a:t>Platform Walkthrough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070C0"/>
                </a:solidFill>
              </a:rPr>
              <a:t>Login &amp; Signup — Getting Started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10332720" cy="12700"/>
          </a:xfrm>
          <a:prstGeom prst="rect">
            <a:avLst/>
          </a:prstGeom>
          <a:noFill/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245352"/>
            <a:ext cx="12188952" cy="6126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COLLEGE OF COMPUTING &amp; SOFTWARE ENGINEERING- ZUFESTM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2588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600" b="0">
                <a:solidFill>
                  <a:srgbClr val="404040"/>
                </a:solidFill>
              </a:rPr>
              <a:t>Create an account with name, email, and password.</a:t>
            </a:r>
          </a:p>
          <a:p>
            <a:pPr algn="l">
              <a:spcBef>
                <a:spcPts val="200"/>
              </a:spcBef>
            </a:pPr>
            <a:endParaRPr sz="1600" b="0">
              <a:solidFill>
                <a:srgbClr val="404040"/>
              </a:solidFill>
            </a:endParaRPr>
          </a:p>
          <a:p>
            <a:pPr algn="l">
              <a:spcBef>
                <a:spcPts val="200"/>
              </a:spcBef>
            </a:pPr>
            <a:r>
              <a:rPr sz="1600" b="0">
                <a:solidFill>
                  <a:srgbClr val="404040"/>
                </a:solidFill>
              </a:rPr>
              <a:t>Login securely — passwords are encrypted.</a:t>
            </a:r>
          </a:p>
          <a:p>
            <a:pPr algn="l">
              <a:spcBef>
                <a:spcPts val="200"/>
              </a:spcBef>
            </a:pPr>
            <a:endParaRPr sz="1600" b="0">
              <a:solidFill>
                <a:srgbClr val="404040"/>
              </a:solidFill>
            </a:endParaRPr>
          </a:p>
          <a:p>
            <a:pPr algn="l">
              <a:spcBef>
                <a:spcPts val="200"/>
              </a:spcBef>
            </a:pPr>
            <a:r>
              <a:rPr sz="1600" b="0">
                <a:solidFill>
                  <a:srgbClr val="404040"/>
                </a:solidFill>
              </a:rPr>
              <a:t>Forgot password? Use the OTP email reset.</a:t>
            </a:r>
          </a:p>
        </p:txBody>
      </p:sp>
      <p:pic>
        <p:nvPicPr>
          <p:cNvPr id="6" name="Picture 5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834640"/>
            <a:ext cx="5760720" cy="2759550"/>
          </a:xfrm>
          <a:prstGeom prst="rect">
            <a:avLst/>
          </a:prstGeom>
        </p:spPr>
      </p:pic>
      <p:pic>
        <p:nvPicPr>
          <p:cNvPr id="7" name="Picture 6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325880"/>
            <a:ext cx="6035040" cy="288247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070C0"/>
                </a:solidFill>
              </a:rPr>
              <a:t>Dashboard — Your Command Center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10332720" cy="12700"/>
          </a:xfrm>
          <a:prstGeom prst="rect">
            <a:avLst/>
          </a:prstGeom>
          <a:noFill/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245352"/>
            <a:ext cx="12188952" cy="6126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COLLEGE OF COMPUTING &amp; SOFTWARE ENGINEERING- ZUFESTM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258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See all key numbers at a glance:</a:t>
            </a: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   Total files uploaded</a:t>
            </a: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   Total bugs found</a:t>
            </a: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   Critical bugs count</a:t>
            </a: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   Fixed / In-Progress / Pending status</a:t>
            </a:r>
          </a:p>
          <a:p>
            <a:pPr algn="l">
              <a:spcBef>
                <a:spcPts val="200"/>
              </a:spcBef>
            </a:pPr>
            <a:endParaRPr sz="1500" b="0">
              <a:solidFill>
                <a:srgbClr val="404040"/>
              </a:solidFill>
            </a:endParaRP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'How This Platform Works' guide always visible.</a:t>
            </a:r>
          </a:p>
        </p:txBody>
      </p:sp>
      <p:pic>
        <p:nvPicPr>
          <p:cNvPr id="6" name="Picture 5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25880"/>
            <a:ext cx="7406640" cy="354822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070C0"/>
                </a:solidFill>
              </a:rPr>
              <a:t>Upload Files — Start the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10332720" cy="12700"/>
          </a:xfrm>
          <a:prstGeom prst="rect">
            <a:avLst/>
          </a:prstGeom>
          <a:noFill/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245352"/>
            <a:ext cx="12188952" cy="6126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COLLEGE OF COMPUTING &amp; SOFTWARE ENGINEERING- ZUFESTM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258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500" b="1">
                <a:solidFill>
                  <a:srgbClr val="0070C0"/>
                </a:solidFill>
              </a:rPr>
              <a:t>Supported File Types:</a:t>
            </a: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   .py  .java  .js  .ts  .cpp  .c  .cs  (source code)</a:t>
            </a: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   .log  .txt  (error log files)</a:t>
            </a: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   .zip  (entire project folder)</a:t>
            </a:r>
          </a:p>
          <a:p>
            <a:pPr algn="l">
              <a:spcBef>
                <a:spcPts val="200"/>
              </a:spcBef>
            </a:pPr>
            <a:endParaRPr sz="1500" b="0">
              <a:solidFill>
                <a:srgbClr val="404040"/>
              </a:solidFill>
            </a:endParaRP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Drag &amp; drop or click to browse.</a:t>
            </a: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Enable Claude AI Mode for richer results.</a:t>
            </a: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Maximum file size: 50 MB.</a:t>
            </a:r>
          </a:p>
        </p:txBody>
      </p:sp>
      <p:pic>
        <p:nvPicPr>
          <p:cNvPr id="6" name="Picture 5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325880"/>
            <a:ext cx="6492240" cy="311056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070C0"/>
                </a:solidFill>
              </a:rPr>
              <a:t>Bug Reports — See Every Bug in Detail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10332720" cy="12700"/>
          </a:xfrm>
          <a:prstGeom prst="rect">
            <a:avLst/>
          </a:prstGeom>
          <a:noFill/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245352"/>
            <a:ext cx="12188952" cy="6126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COLLEGE OF COMPUTING &amp; SOFTWARE ENGINEERING- ZUFESTM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2588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400" b="1">
                <a:solidFill>
                  <a:srgbClr val="0070C0"/>
                </a:solidFill>
              </a:rPr>
              <a:t>Each bug shows: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   Bug ID, Type, Severity level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   File name and exact line number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   Why the AI flagged this code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   Suggested fix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   Assigned person: Developer / QA / Analyst</a:t>
            </a:r>
          </a:p>
          <a:p>
            <a:pPr algn="l">
              <a:spcBef>
                <a:spcPts val="200"/>
              </a:spcBef>
            </a:pPr>
            <a:endParaRPr sz="1400" b="0">
              <a:solidFill>
                <a:srgbClr val="404040"/>
              </a:solidFill>
            </a:endParaRP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Filter bugs by: Severity | Type | Status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Update status: Open -&gt; In Progress -&gt; Fixed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Download the full report as a PDF.</a:t>
            </a:r>
          </a:p>
        </p:txBody>
      </p:sp>
      <p:pic>
        <p:nvPicPr>
          <p:cNvPr id="6" name="Picture 5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325880"/>
            <a:ext cx="7223760" cy="345276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070C0"/>
                </a:solidFill>
              </a:rPr>
              <a:t>Analysis History — Track All Past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10332720" cy="12700"/>
          </a:xfrm>
          <a:prstGeom prst="rect">
            <a:avLst/>
          </a:prstGeom>
          <a:noFill/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245352"/>
            <a:ext cx="12188952" cy="6126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COLLEGE OF COMPUTING &amp; SOFTWARE ENGINEERING- ZUFESTM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2588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See every file analyzed before:</a:t>
            </a: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   File name, date, bugs found, current status</a:t>
            </a:r>
          </a:p>
          <a:p>
            <a:pPr algn="l">
              <a:spcBef>
                <a:spcPts val="200"/>
              </a:spcBef>
            </a:pPr>
            <a:endParaRPr sz="1500" b="0">
              <a:solidFill>
                <a:srgbClr val="404040"/>
              </a:solidFill>
            </a:endParaRP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Star important analyses for quick access.</a:t>
            </a: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Delete old records you no longer need.</a:t>
            </a: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Search by file name, status, or file type.</a:t>
            </a:r>
          </a:p>
        </p:txBody>
      </p:sp>
      <p:pic>
        <p:nvPicPr>
          <p:cNvPr id="6" name="Picture 5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25880"/>
            <a:ext cx="7315200" cy="347780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245352"/>
            <a:ext cx="12188952" cy="6126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COLLEGE OF COMPUTING &amp; SOFTWARE ENGINEERING- ZUFESTM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560320"/>
            <a:ext cx="10332720" cy="12700"/>
          </a:xfrm>
          <a:prstGeom prst="rect">
            <a:avLst/>
          </a:prstGeom>
          <a:noFill/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070C0"/>
                </a:solidFill>
              </a:rPr>
              <a:t>System Design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070C0"/>
                </a:solidFill>
              </a:rPr>
              <a:t>Use Case Diagram — Who Uses the System?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10332720" cy="12700"/>
          </a:xfrm>
          <a:prstGeom prst="rect">
            <a:avLst/>
          </a:prstGeom>
          <a:noFill/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245352"/>
            <a:ext cx="12188952" cy="6126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COLLEGE OF COMPUTING &amp; SOFTWARE ENGINEERING- ZUFESTM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2588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600" b="1">
                <a:solidFill>
                  <a:srgbClr val="0070C0"/>
                </a:solidFill>
              </a:rPr>
              <a:t>QA Engineer:</a:t>
            </a:r>
          </a:p>
          <a:p>
            <a:pPr algn="l">
              <a:spcBef>
                <a:spcPts val="200"/>
              </a:spcBef>
            </a:pPr>
            <a:r>
              <a:rPr sz="1600" b="0">
                <a:solidFill>
                  <a:srgbClr val="404040"/>
                </a:solidFill>
              </a:rPr>
              <a:t>   Uploads files, views reports, updates bug status</a:t>
            </a:r>
          </a:p>
          <a:p>
            <a:pPr algn="l">
              <a:spcBef>
                <a:spcPts val="200"/>
              </a:spcBef>
            </a:pPr>
            <a:endParaRPr sz="1600" b="0">
              <a:solidFill>
                <a:srgbClr val="404040"/>
              </a:solidFill>
            </a:endParaRPr>
          </a:p>
          <a:p>
            <a:pPr algn="l">
              <a:spcBef>
                <a:spcPts val="200"/>
              </a:spcBef>
            </a:pPr>
            <a:r>
              <a:rPr sz="1600" b="1">
                <a:solidFill>
                  <a:srgbClr val="0070C0"/>
                </a:solidFill>
              </a:rPr>
              <a:t>System Admin:</a:t>
            </a:r>
          </a:p>
          <a:p>
            <a:pPr algn="l">
              <a:spcBef>
                <a:spcPts val="200"/>
              </a:spcBef>
            </a:pPr>
            <a:r>
              <a:rPr sz="1600" b="0">
                <a:solidFill>
                  <a:srgbClr val="404040"/>
                </a:solidFill>
              </a:rPr>
              <a:t>   Manages user accounts and access</a:t>
            </a:r>
          </a:p>
        </p:txBody>
      </p:sp>
      <p:pic>
        <p:nvPicPr>
          <p:cNvPr id="6" name="Picture 5" descr="imag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25880"/>
            <a:ext cx="7406640" cy="293751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070C0"/>
                </a:solidFill>
              </a:rPr>
              <a:t>Data Flow Diagram — How Data Moves in the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10332720" cy="12700"/>
          </a:xfrm>
          <a:prstGeom prst="rect">
            <a:avLst/>
          </a:prstGeom>
          <a:noFill/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245352"/>
            <a:ext cx="12188952" cy="6126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COLLEGE OF COMPUTING &amp; SOFTWARE ENGINEERING- ZUFESTM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258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How data flows through our system:</a:t>
            </a:r>
          </a:p>
          <a:p>
            <a:pPr algn="l">
              <a:spcBef>
                <a:spcPts val="200"/>
              </a:spcBef>
            </a:pPr>
            <a:endParaRPr sz="1500" b="0">
              <a:solidFill>
                <a:srgbClr val="404040"/>
              </a:solidFill>
            </a:endParaRP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1.  QA Engineer uploads a code file</a:t>
            </a: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2.  System reads and preprocesses the file</a:t>
            </a: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3.  AI model analyzes and detects bugs</a:t>
            </a: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4.  Results saved to the History Store</a:t>
            </a: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5.  Dashboard shows results to the user</a:t>
            </a:r>
          </a:p>
          <a:p>
            <a:pPr algn="l">
              <a:spcBef>
                <a:spcPts val="200"/>
              </a:spcBef>
            </a:pPr>
            <a:r>
              <a:rPr sz="1500" b="0">
                <a:solidFill>
                  <a:srgbClr val="404040"/>
                </a:solidFill>
              </a:rPr>
              <a:t>6.  Admin can view activity reports</a:t>
            </a:r>
          </a:p>
        </p:txBody>
      </p:sp>
      <p:pic>
        <p:nvPicPr>
          <p:cNvPr id="6" name="Picture 5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25880"/>
            <a:ext cx="740664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070C0"/>
                </a:solidFill>
              </a:rPr>
              <a:t>Database Design (ERD) — What We Store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10332720" cy="12700"/>
          </a:xfrm>
          <a:prstGeom prst="rect">
            <a:avLst/>
          </a:prstGeom>
          <a:noFill/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245352"/>
            <a:ext cx="12188952" cy="6126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COLLEGE OF COMPUTING &amp; SOFTWARE ENGINEERING- ZUFESTM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2588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600" b="1">
                <a:solidFill>
                  <a:srgbClr val="0070C0"/>
                </a:solidFill>
              </a:rPr>
              <a:t>Our database (MongoDB) has 5 main collections:</a:t>
            </a:r>
          </a:p>
          <a:p>
            <a:pPr algn="l">
              <a:spcBef>
                <a:spcPts val="200"/>
              </a:spcBef>
            </a:pPr>
            <a:endParaRPr sz="1600" b="1">
              <a:solidFill>
                <a:srgbClr val="0070C0"/>
              </a:solidFill>
            </a:endParaRPr>
          </a:p>
          <a:p>
            <a:pPr algn="l">
              <a:spcBef>
                <a:spcPts val="200"/>
              </a:spcBef>
            </a:pPr>
            <a:r>
              <a:rPr sz="1600" b="0">
                <a:solidFill>
                  <a:srgbClr val="404040"/>
                </a:solidFill>
              </a:rPr>
              <a:t>Users      — name, email, password, role</a:t>
            </a:r>
          </a:p>
          <a:p>
            <a:pPr algn="l">
              <a:spcBef>
                <a:spcPts val="200"/>
              </a:spcBef>
            </a:pPr>
            <a:r>
              <a:rPr sz="1600" b="0">
                <a:solidFill>
                  <a:srgbClr val="404040"/>
                </a:solidFill>
              </a:rPr>
              <a:t>Uploads    — every file uploaded by users</a:t>
            </a:r>
          </a:p>
          <a:p>
            <a:pPr algn="l">
              <a:spcBef>
                <a:spcPts val="200"/>
              </a:spcBef>
            </a:pPr>
            <a:r>
              <a:rPr sz="1600" b="0">
                <a:solidFill>
                  <a:srgbClr val="404040"/>
                </a:solidFill>
              </a:rPr>
              <a:t>Analysis   — each analysis run (status, time)</a:t>
            </a:r>
          </a:p>
          <a:p>
            <a:pPr algn="l">
              <a:spcBef>
                <a:spcPts val="200"/>
              </a:spcBef>
            </a:pPr>
            <a:r>
              <a:rPr sz="1600" b="0">
                <a:solidFill>
                  <a:srgbClr val="404040"/>
                </a:solidFill>
              </a:rPr>
              <a:t>Bugs       — every bug found with full details</a:t>
            </a:r>
          </a:p>
          <a:p>
            <a:pPr algn="l">
              <a:spcBef>
                <a:spcPts val="200"/>
              </a:spcBef>
            </a:pPr>
            <a:r>
              <a:rPr sz="1600" b="0">
                <a:solidFill>
                  <a:srgbClr val="404040"/>
                </a:solidFill>
              </a:rPr>
              <a:t>History    — record of past analyses</a:t>
            </a:r>
          </a:p>
        </p:txBody>
      </p:sp>
      <p:pic>
        <p:nvPicPr>
          <p:cNvPr id="6" name="Picture 5" descr="imag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234440"/>
            <a:ext cx="7680960" cy="515000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245352"/>
            <a:ext cx="12188952" cy="6126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COLLEGE OF COMPUTING &amp; SOFTWARE ENGINEERING- ZUFESTM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560320"/>
            <a:ext cx="10332720" cy="12700"/>
          </a:xfrm>
          <a:prstGeom prst="rect">
            <a:avLst/>
          </a:prstGeom>
          <a:noFill/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070C0"/>
                </a:solidFill>
              </a:rPr>
              <a:t>How to Run the Project Locally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070C0"/>
                </a:solidFill>
              </a:rPr>
              <a:t>How to Run the Project — Step by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10332720" cy="12700"/>
          </a:xfrm>
          <a:prstGeom prst="rect">
            <a:avLst/>
          </a:prstGeom>
          <a:noFill/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245352"/>
            <a:ext cx="12188952" cy="6126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COLLEGE OF COMPUTING &amp; SOFTWARE ENGINEERING- ZUFESTM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25880"/>
            <a:ext cx="5577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400" b="1">
                <a:solidFill>
                  <a:srgbClr val="0070C0"/>
                </a:solidFill>
              </a:rPr>
              <a:t>STEP 1: Install Requirements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   Install Python 3.9+ and Node.js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   Install MongoDB (free, local database)</a:t>
            </a:r>
          </a:p>
          <a:p>
            <a:pPr algn="l">
              <a:spcBef>
                <a:spcPts val="200"/>
              </a:spcBef>
            </a:pPr>
            <a:endParaRPr sz="1400" b="0">
              <a:solidFill>
                <a:srgbClr val="404040"/>
              </a:solidFill>
            </a:endParaRPr>
          </a:p>
          <a:p>
            <a:pPr algn="l">
              <a:spcBef>
                <a:spcPts val="200"/>
              </a:spcBef>
            </a:pPr>
            <a:r>
              <a:rPr sz="1400" b="1">
                <a:solidFill>
                  <a:srgbClr val="0070C0"/>
                </a:solidFill>
              </a:rPr>
              <a:t>STEP 2: Install Python Libraries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   Open terminal inside the 'backend' folder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0D47A1"/>
                </a:solidFill>
              </a:rPr>
              <a:t>   Run:   pip install -r requirements.txt</a:t>
            </a:r>
          </a:p>
          <a:p>
            <a:pPr algn="l">
              <a:spcBef>
                <a:spcPts val="200"/>
              </a:spcBef>
            </a:pPr>
            <a:endParaRPr sz="1400" b="0">
              <a:solidFill>
                <a:srgbClr val="0D47A1"/>
              </a:solidFill>
            </a:endParaRPr>
          </a:p>
          <a:p>
            <a:pPr algn="l">
              <a:spcBef>
                <a:spcPts val="200"/>
              </a:spcBef>
            </a:pPr>
            <a:r>
              <a:rPr sz="1400" b="1">
                <a:solidFill>
                  <a:srgbClr val="0070C0"/>
                </a:solidFill>
              </a:rPr>
              <a:t>STEP 3: Install Frontend Libraries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   Open terminal in 'bug-detector' folder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0D47A1"/>
                </a:solidFill>
              </a:rPr>
              <a:t>   Run:   npm install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325880"/>
            <a:ext cx="5760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400" b="1">
                <a:solidFill>
                  <a:srgbClr val="0070C0"/>
                </a:solidFill>
              </a:rPr>
              <a:t>STEP 4: Start the Backend Server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   In 'backend' folder terminal, run: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0D47A1"/>
                </a:solidFill>
              </a:rPr>
              <a:t>   python app.py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   Server starts at: http://localhost:5000</a:t>
            </a:r>
          </a:p>
          <a:p>
            <a:pPr algn="l">
              <a:spcBef>
                <a:spcPts val="200"/>
              </a:spcBef>
            </a:pPr>
            <a:endParaRPr sz="1400" b="0">
              <a:solidFill>
                <a:srgbClr val="404040"/>
              </a:solidFill>
            </a:endParaRPr>
          </a:p>
          <a:p>
            <a:pPr algn="l">
              <a:spcBef>
                <a:spcPts val="200"/>
              </a:spcBef>
            </a:pPr>
            <a:r>
              <a:rPr sz="1400" b="1">
                <a:solidFill>
                  <a:srgbClr val="0070C0"/>
                </a:solidFill>
              </a:rPr>
              <a:t>STEP 5: Start the Frontend Website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   In 'bug-detector' folder terminal, run: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0D47A1"/>
                </a:solidFill>
              </a:rPr>
              <a:t>   npm start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   Opens at: http://localhost:3000</a:t>
            </a:r>
          </a:p>
          <a:p>
            <a:pPr algn="l">
              <a:spcBef>
                <a:spcPts val="200"/>
              </a:spcBef>
            </a:pPr>
            <a:endParaRPr sz="1400" b="0">
              <a:solidFill>
                <a:srgbClr val="404040"/>
              </a:solidFill>
            </a:endParaRPr>
          </a:p>
          <a:p>
            <a:pPr algn="l">
              <a:spcBef>
                <a:spcPts val="200"/>
              </a:spcBef>
            </a:pPr>
            <a:r>
              <a:rPr sz="1400" b="1">
                <a:solidFill>
                  <a:srgbClr val="0070C0"/>
                </a:solidFill>
              </a:rPr>
              <a:t>STEP 6: Use the Platform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   Open browser at: http://localhost:3000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404040"/>
                </a:solidFill>
              </a:rPr>
              <a:t>   Sign up -&gt; Login -&gt; Upload file -&gt; Done!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280160"/>
            <a:ext cx="12700" cy="45720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245352"/>
            <a:ext cx="12188952" cy="6126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COLLEGE OF COMPUTING &amp; SOFTWARE ENGINEERING- ZUFESTM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560320"/>
            <a:ext cx="10332720" cy="12700"/>
          </a:xfrm>
          <a:prstGeom prst="rect">
            <a:avLst/>
          </a:prstGeom>
          <a:noFill/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070C0"/>
                </a:solidFill>
              </a:rPr>
              <a:t>Future Plans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0070C0"/>
                </a:solidFill>
              </a:rPr>
              <a:t>What We Plan to Build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10332720" cy="12700"/>
          </a:xfrm>
          <a:prstGeom prst="rect">
            <a:avLst/>
          </a:prstGeom>
          <a:noFill/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245352"/>
            <a:ext cx="12188952" cy="6126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COLLEGE OF COMPUTING &amp; SOFTWARE ENGINEERING- ZUFESTM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600" b="0">
                <a:solidFill>
                  <a:srgbClr val="404040"/>
                </a:solidFill>
              </a:rPr>
              <a:t>Cloud Deployment       Make the platform available online — no local setup needed</a:t>
            </a:r>
          </a:p>
          <a:p>
            <a:pPr algn="l">
              <a:spcBef>
                <a:spcPts val="200"/>
              </a:spcBef>
            </a:pPr>
            <a:endParaRPr sz="1600" b="0">
              <a:solidFill>
                <a:srgbClr val="404040"/>
              </a:solidFill>
            </a:endParaRPr>
          </a:p>
          <a:p>
            <a:pPr algn="l">
              <a:spcBef>
                <a:spcPts val="200"/>
              </a:spcBef>
            </a:pPr>
            <a:r>
              <a:rPr sz="1600" b="0">
                <a:solidFill>
                  <a:srgbClr val="404040"/>
                </a:solidFill>
              </a:rPr>
              <a:t>Email Notifications    Automatically email developers when new bugs are found</a:t>
            </a:r>
          </a:p>
          <a:p>
            <a:pPr algn="l">
              <a:spcBef>
                <a:spcPts val="200"/>
              </a:spcBef>
            </a:pPr>
            <a:endParaRPr sz="1600" b="0">
              <a:solidFill>
                <a:srgbClr val="404040"/>
              </a:solidFill>
            </a:endParaRPr>
          </a:p>
          <a:p>
            <a:pPr algn="l">
              <a:spcBef>
                <a:spcPts val="200"/>
              </a:spcBef>
            </a:pPr>
            <a:r>
              <a:rPr sz="1600" b="0">
                <a:solidFill>
                  <a:srgbClr val="404040"/>
                </a:solidFill>
              </a:rPr>
              <a:t>GitHub Integration     Connect directly to code repositories for automatic scanning</a:t>
            </a:r>
          </a:p>
          <a:p>
            <a:pPr algn="l">
              <a:spcBef>
                <a:spcPts val="200"/>
              </a:spcBef>
            </a:pPr>
            <a:endParaRPr sz="1600" b="0">
              <a:solidFill>
                <a:srgbClr val="404040"/>
              </a:solidFill>
            </a:endParaRPr>
          </a:p>
          <a:p>
            <a:pPr algn="l">
              <a:spcBef>
                <a:spcPts val="200"/>
              </a:spcBef>
            </a:pPr>
            <a:r>
              <a:rPr sz="1600" b="0">
                <a:solidFill>
                  <a:srgbClr val="404040"/>
                </a:solidFill>
              </a:rPr>
              <a:t>Mobile App             Access bug reports from your phone anytime</a:t>
            </a:r>
          </a:p>
          <a:p>
            <a:pPr algn="l">
              <a:spcBef>
                <a:spcPts val="200"/>
              </a:spcBef>
            </a:pPr>
            <a:endParaRPr sz="1600" b="0">
              <a:solidFill>
                <a:srgbClr val="404040"/>
              </a:solidFill>
            </a:endParaRPr>
          </a:p>
          <a:p>
            <a:pPr algn="l">
              <a:spcBef>
                <a:spcPts val="200"/>
              </a:spcBef>
            </a:pPr>
            <a:r>
              <a:rPr sz="1600" b="0">
                <a:solidFill>
                  <a:srgbClr val="404040"/>
                </a:solidFill>
              </a:rPr>
              <a:t>More Languages         PHP, Ruby, Swift, Kotlin support</a:t>
            </a:r>
          </a:p>
          <a:p>
            <a:pPr algn="l">
              <a:spcBef>
                <a:spcPts val="200"/>
              </a:spcBef>
            </a:pPr>
            <a:endParaRPr sz="1600" b="0">
              <a:solidFill>
                <a:srgbClr val="404040"/>
              </a:solidFill>
            </a:endParaRPr>
          </a:p>
          <a:p>
            <a:pPr algn="l">
              <a:spcBef>
                <a:spcPts val="200"/>
              </a:spcBef>
            </a:pPr>
            <a:r>
              <a:rPr sz="1600" b="0">
                <a:solidFill>
                  <a:srgbClr val="404040"/>
                </a:solidFill>
              </a:rPr>
              <a:t>Advanced Analytics     Charts and trends showing bug patterns over time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245352"/>
            <a:ext cx="12188952" cy="6126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COLLEGE OF COMPUTING &amp; SOFTWARE ENGINEERING- ZUFESTM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377440"/>
            <a:ext cx="10332720" cy="12700"/>
          </a:xfrm>
          <a:prstGeom prst="rect">
            <a:avLst/>
          </a:prstGeom>
          <a:noFill/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0" b="1">
                <a:solidFill>
                  <a:srgbClr val="0070C0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404040"/>
                </a:solidFill>
              </a:rPr>
              <a:t>AI-Powered Bug Detection &amp; Resolution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404040"/>
                </a:solidFill>
              </a:rPr>
              <a:t>College of Computing &amp; Software Engineering — Ziauddin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9CC26709-368C-4D72-9060-94E5B3FF3CD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14062</TotalTime>
  <Words>1853</Words>
  <Application>Microsoft Office PowerPoint</Application>
  <PresentationFormat>Widescreen</PresentationFormat>
  <Paragraphs>278</Paragraphs>
  <Slides>31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Calibri</vt:lpstr>
      <vt:lpstr>Wingdings</vt:lpstr>
      <vt:lpstr>Retrospect</vt:lpstr>
      <vt:lpstr>PowerPoint Presentation</vt:lpstr>
      <vt:lpstr>AI-Powered Bug Detection Platform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Abaidullah Anwar</dc:creator>
  <cp:lastModifiedBy>DIL ZAIB</cp:lastModifiedBy>
  <cp:revision>486</cp:revision>
  <cp:lastPrinted>2017-05-05T14:33:44Z</cp:lastPrinted>
  <dcterms:created xsi:type="dcterms:W3CDTF">2016-04-12T03:48:14Z</dcterms:created>
  <dcterms:modified xsi:type="dcterms:W3CDTF">2026-05-26T19:10:26Z</dcterms:modified>
</cp:coreProperties>
</file>