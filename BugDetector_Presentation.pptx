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1"/>
  </p:sldMasterIdLst>
  <p:notesMasterIdLst>
    <p:notesMasterId r:id="rId30"/>
  </p:notesMasterIdLst>
  <p:handoutMasterIdLst>
    <p:handoutMasterId r:id="rId31"/>
  </p:handoutMasterIdLst>
  <p:sldIdLst>
    <p:sldId id="415" r:id="rId2"/>
    <p:sldId id="256" r:id="rId3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10"/>
    <p:sldId id="436" r:id="rId9"/>
    <p:sldId id="437" r:id="rId8"/>
    <p:sldId id="438" r:id="rId7"/>
    <p:sldId id="439" r:id="rId6"/>
    <p:sldId id="440" r:id="rId5"/>
    <p:sldId id="441" r:id="rId4"/>
    <p:sldId id="442" r:id="rId37"/>
    <p:sldId id="443" r:id="rId38"/>
    <p:sldId id="444" r:id="rId3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aidullah Anwar" initials="AA" lastIdx="5" clrIdx="0">
    <p:extLst>
      <p:ext uri="{19B8F6BF-5375-455C-9EA6-DF929625EA0E}">
        <p15:presenceInfo xmlns:p15="http://schemas.microsoft.com/office/powerpoint/2012/main" userId="S-1-5-21-2807140445-3290175154-747852135-24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8" autoAdjust="0"/>
    <p:restoredTop sz="79283" autoAdjust="0"/>
  </p:normalViewPr>
  <p:slideViewPr>
    <p:cSldViewPr snapToGrid="0">
      <p:cViewPr varScale="1">
        <p:scale>
          <a:sx n="88" d="100"/>
          <a:sy n="88" d="100"/>
        </p:scale>
        <p:origin x="1368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860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8.xml"/><Relationship Id="rId5" Type="http://schemas.openxmlformats.org/officeDocument/2006/relationships/slide" Target="slides/slide27.xml"/><Relationship Id="rId6" Type="http://schemas.openxmlformats.org/officeDocument/2006/relationships/slide" Target="slides/slide26.xml"/><Relationship Id="rId7" Type="http://schemas.openxmlformats.org/officeDocument/2006/relationships/slide" Target="slides/slide25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3B9BF8B-5DE5-4683-9086-813D7D9D9C2C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7870C75-0CE0-4112-B062-B77B4E107A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412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F7E6EC3-2045-4E0B-AEC9-6D8FD25FE102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83674ED-BB51-41BC-868A-170A551A88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0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674ED-BB51-41BC-868A-170A551A88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420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E2958715-E9F5-4077-9CFA-A1C12B9697F1}" type="datetime13">
              <a:rPr lang="en-US" smtClean="0"/>
              <a:t>11:48:14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75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 marL="384048" indent="-182880">
              <a:buFont typeface="Wingdings" panose="05000000000000000000" pitchFamily="2" charset="2"/>
              <a:buChar char="q"/>
              <a:defRPr sz="24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8A8067C8-3610-4B30-90BD-B62F52802A82}" type="datetime13">
              <a:rPr lang="en-US" smtClean="0"/>
              <a:t>11:48:14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59"/>
            <a:ext cx="1528549" cy="14048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214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0F130A0-3ED1-4AAC-955B-D8CD0E39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8E55EF7E-3664-411B-B17D-47435194F3C2}" type="datetime13">
              <a:rPr lang="en-US" smtClean="0"/>
              <a:t>11:48:14 AM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07A2D77-ADEF-4C52-B1EF-CAEAC3A1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B28E41E-4E9B-4A4F-A75F-E36CE280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 sz="2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0DA6378-BCE4-4A63-9A16-5C23A3E2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ADC66968-D469-4BB3-AE8F-6DAE79F12CC6}" type="datetime13">
              <a:rPr lang="en-US" smtClean="0"/>
              <a:t>11:48:14 AM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C016D18-144A-4819-9EED-DD95AA55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B634C46-7608-4527-9ED2-1CE46634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9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8B396A6-CBA1-414E-8CDB-4A6AA7E1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7268E905-6BF1-4944-9429-EF971271A1F9}" type="datetime13">
              <a:rPr lang="en-US" smtClean="0"/>
              <a:t>11:48:14 AM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2D94D7A-DFFF-4E8F-B6EC-AC1D0313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947905E-C6E7-4AA9-A047-FB821241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1B69A3E-B9CC-4E49-AA9B-00C0A4AD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C727AB41-863D-41C8-8A35-611CCBAFCBC6}" type="datetime13">
              <a:rPr lang="en-US" smtClean="0"/>
              <a:t>11:48:14 AM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BAC8DD7-C1E8-4BBF-9F35-B08905C3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EF7F2BE-5243-4D4F-8272-73BADEC9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56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AC4B682-96F7-4D7E-974F-CC37E681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394D167E-8919-484F-A388-D38791552CD5}" type="datetime13">
              <a:rPr lang="en-US" smtClean="0"/>
              <a:t>11:48:14 AM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6E232D6-1C3C-439E-B36C-D8F7DD5D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D9687F8-3BA6-462A-9991-556DB4BA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4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0202423-99CB-463E-85F5-7D7115C2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9C470322-69F3-46DF-BAEB-71916444555A}" type="datetime13">
              <a:rPr lang="en-US" smtClean="0"/>
              <a:t>11:48:14 AM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623045E-341D-460C-8FBF-529E4550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D08586-C226-4213-A68F-CBA80D3E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7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265CBB-1C86-4604-8B67-F3F16590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BBFEC683-AD33-4FE9-86A8-FC89A0F20670}" type="datetime13">
              <a:rPr lang="en-US" smtClean="0"/>
              <a:t>11:48:14 AM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FC378ED-C2DC-491F-9A9A-30C075B1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3D7A35-819D-4B6F-9453-2EB912E2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5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4E6B159-355C-4789-926C-4FD7F871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CBCF0641-80D5-40A5-B5EC-B45E055A1B6E}" type="datetime13">
              <a:rPr lang="en-US" smtClean="0"/>
              <a:t>11:48:14 AM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791710-41CD-4EB4-BBEE-08B4C3BA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678F0B-E469-4FA4-A9CA-2AB83A6E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2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11D430D-DB82-4F0C-A13F-8B7814A1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716" y="6459784"/>
            <a:ext cx="1528393" cy="365125"/>
          </a:xfrm>
          <a:prstGeom prst="rect">
            <a:avLst/>
          </a:prstGeom>
        </p:spPr>
        <p:txBody>
          <a:bodyPr/>
          <a:lstStyle/>
          <a:p>
            <a:fld id="{497CAE6B-F049-43EC-BD2A-C3C56FC34BAE}" type="datetime13">
              <a:rPr lang="en-US" smtClean="0"/>
              <a:t>11:48:14 AM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D4F9982-83A3-4D06-9EE0-FF0752FD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345" y="6440390"/>
            <a:ext cx="8111537" cy="365125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D608E0-6D42-47F9-A886-6AE83E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9666" y="6440391"/>
            <a:ext cx="1312025" cy="365125"/>
          </a:xfrm>
        </p:spPr>
        <p:txBody>
          <a:bodyPr/>
          <a:lstStyle/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04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8549" y="533400"/>
            <a:ext cx="9627130" cy="8858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8550" y="1633609"/>
            <a:ext cx="9627130" cy="42354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6034" y="6459785"/>
            <a:ext cx="57819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College of Computing &amp; Software Engineering- ZUFESTM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D0D1304-A9C3-4BA8-9160-82ABB3C9A1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528549" y="1526417"/>
            <a:ext cx="962713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5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0" kern="1200" spc="-50" baseline="0">
          <a:solidFill>
            <a:schemeClr val="tx1">
              <a:lumMod val="75000"/>
              <a:lumOff val="2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q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Image result for image of bismilla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8" name="AutoShape 4" descr="Image result for image of bismilla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2"/>
          <a:srcRect l="971" b="7831"/>
          <a:stretch/>
        </p:blipFill>
        <p:spPr bwMode="auto">
          <a:xfrm>
            <a:off x="1171575" y="876300"/>
            <a:ext cx="9946379" cy="445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8127FC-713D-D231-38DA-AAB0280C7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of Computing &amp; Software Engineering- ZUFESTM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2744" y="398451"/>
            <a:ext cx="9813331" cy="1193308"/>
          </a:xfrm>
        </p:spPr>
        <p:txBody>
          <a:bodyPr>
            <a:normAutofit/>
          </a:bodyPr>
          <a:lstStyle/>
          <a:p>
            <a:pPr algn="ctr"/>
            <a:r>
              <a:rPr lang="en-US" sz="3800" dirty="0"/>
              <a:t>AI-Powered Bug Detection Platform</a:t>
            </a:r>
            <a:endParaRPr lang="en-US" sz="5400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542" y="1966602"/>
            <a:ext cx="10705737" cy="2349367"/>
          </a:xfrm>
        </p:spPr>
        <p:txBody>
          <a:bodyPr>
            <a:normAutofit/>
          </a:bodyPr>
          <a:lstStyle/>
          <a:p>
            <a:pPr algn="r"/>
            <a:endParaRPr lang="en-US" sz="3200" b="1" dirty="0">
              <a:solidFill>
                <a:srgbClr val="0070C0"/>
              </a:solidFill>
            </a:endParaRPr>
          </a:p>
          <a:p>
            <a:pPr algn="ctr"/>
            <a:r>
              <a:rPr lang="en-US" sz="2200" b="1" dirty="0">
                <a:solidFill>
                  <a:srgbClr val="0070C0"/>
                </a:solidFill>
              </a:rPr>
              <a:t>Group Members:  Zainab  |  Shahzaman  |  [Team Member]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Supervised By:  [Supervisor Name]</a:t>
            </a:r>
          </a:p>
          <a:p>
            <a:pPr algn="ctr"/>
            <a:r>
              <a:rPr lang="en-US" b="1" dirty="0">
                <a:solidFill>
                  <a:srgbClr val="0070C0"/>
                </a:solidFill>
              </a:rPr>
              <a:t>Co-Supervisor:  [Co-Supervisor Name]</a:t>
            </a:r>
            <a:r>
              <a:rPr lang="en-US" sz="3200" b="1" dirty="0">
                <a:solidFill>
                  <a:srgbClr val="0070C0"/>
                </a:solidFill>
              </a:rPr>
              <a:t>: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560" y="-2"/>
            <a:ext cx="1872211" cy="1739901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E6E613-227C-0C4E-65B8-7BEC8E90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College of Computing &amp; Software Engineering- ZUFESTM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1427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1.   Introduction — What is this project?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2.   The Problem We Solve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3.   How It Works — Step by Step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4.   Datasets Used for Training the AI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5.   AI Models Explained in Simple Language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6.   Platform Walkthrough (Screenshots)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7.   System Design Diagrams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8.   How to Run the Project Locally</a:t>
            </a:r>
          </a:p>
          <a:p>
            <a:pPr algn="l">
              <a:spcBef>
                <a:spcPts val="200"/>
              </a:spcBef>
            </a:pPr>
            <a:r>
              <a:rPr sz="1900" b="1">
                <a:solidFill>
                  <a:srgbClr val="0070C0"/>
                </a:solidFill>
              </a:rPr>
              <a:t>9.   Future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What is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The Bug Detector is a smart AI system that automatically finds errors (bugs) in software code.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A developer or QA engineer uploads their code file or log file to the platform.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The AI instantly scans the file and tells you: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Type of bug  (Crash / Logical / Performance / UI)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How serious it is  (Critical / High / Medium / Low)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Which line of code has the problem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How to fix it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Who is responsible for fixing it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No manual code review needed — the AI does it all automatically.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937760" cy="23653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The Problem We Solve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Old Way vs Our AI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OLD WAY (Manual Review)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Developers manually read thousands of lines to find bugs.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Takes days or weeks — very expensive.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Human reviewers miss many bugs in large projects.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No clear record of bugs found and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OUR SOLUTION (AI-Powered)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Upload any code file — AI scans it in seconds.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87% accuracy in detecting if a file has bugs.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99% accuracy in classifying the type of bug.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Full history of all past analyses kept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280160"/>
            <a:ext cx="12700" cy="457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How It Works — Step by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How It Works — 7 Simple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1161288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Datasets Used to Train the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Datasets Used to Train the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Dataset 1: NASA Software Defect Dataset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File name:  nasa_combined.csv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Source: NASA publicly released real project data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Contains data from real NASA space software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Tells the AI: Is this file buggy or clean? (Yes/No)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Total records used for training: ~17,000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Dataset 2: CK Metrics Dataset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File name:  ck_combined.csv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CK = Chidamber &amp; Kemerer (famous researchers)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Measures 20 qualities of code, for example: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WMC — How complex is this code?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LOC — How many lines of code?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CBO — How many other files does it depend on?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RFC — How many functions are called?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Teaches AI: What TYPE of bug is this?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280160"/>
            <a:ext cx="12700" cy="457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AI Models — The Brain of the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Model 1: Bug Detection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What does it do?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Reads the code file and decides: Does this file have a bug? (Yes or No)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How was it built?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We trained 3 AI algorithms together (called an 'Ensemble'):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XGBoost — A very powerful prediction algorithm (weight: 3)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Random Forest — Like a group of experts voting together (weight: 2)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Gradient Boosting — Learns from past mistakes step by step (weight: 2)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Combining all 3 gives much better accuracy than one alone.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How accurate is it?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AUC Score: 87%   (AUC = how well it separates buggy vs clean code)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Trained on: 12,454 real software records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Uses 35 different code measurements to make its decision</a:t>
            </a:r>
          </a:p>
        </p:txBody>
      </p:sp>
      <p:pic>
        <p:nvPicPr>
          <p:cNvPr id="6" name="Picture 5" descr="improv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29768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Model 2: Bug Type Classifier (99% Accurate)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7223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What does it do?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Once a bug is found, it tells you WHAT TYPE of bug it is.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4 Bug Types it identifies: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Crash Bug         The app will stop working / crash completely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Logical Bug       Wrong answer, incorrect calculation, wrong output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Performance Bug   App runs slowly or uses too much memory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UI Bug            Something looks wrong on the screen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Algorithm used: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Random Forest Classifier — a group of decision trees voting together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Accuracy: 99.09% — nearly perfect!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 Trained on 3,200 labeled examples</a:t>
            </a:r>
          </a:p>
        </p:txBody>
      </p:sp>
      <p:pic>
        <p:nvPicPr>
          <p:cNvPr id="6" name="Picture 5" descr="bug_typ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297680" cy="36837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What the AI Looks At — Top Code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The AI looks at 20 measurements of code quality.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These are the most important signals for bug detection: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WMC  — Code complexity (most important!)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LOC  — Total lines of code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CBO  — Number of connections to other code files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DIT  — Depth of class inheritance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RFC  — How many different functions are called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Rule of thumb: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Higher values = more complex code = higher risk of bugs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6675120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Model 3: Claude AI Enhancement (Optional Feature)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What is Claude AI?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Claude is a powerful AI assistant made by Anthropic.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We use the Claude Haiku version — fast, smart, and affordable.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What does it add on top of our ML models?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Enhanced Description  — A clear 2-sentence explanation of the bug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Technical Reason      — Why the AI flagged this specific code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Corrected Code        — The actual fixed version of the buggy line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Fix Explanation       — What was changed and why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How to enable it?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Go to Settings &gt; Enable Claude AI Mode &gt; Upload your file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 Analysis takes a bit longer but gives much richer reports.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2011680"/>
            <a:ext cx="3566160" cy="3474720"/>
          </a:xfrm>
          <a:prstGeom prst="rect">
            <a:avLst/>
          </a:prstGeom>
          <a:solidFill>
            <a:srgbClr val="F3E8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7C3AED"/>
                </a:solidFill>
              </a:rPr>
              <a:t>Claude AI Output Example</a:t>
            </a:r>
          </a:p>
          <a:p>
            <a:r>
              <a:rPr sz="1200">
                <a:solidFill>
                  <a:srgbClr val="404040"/>
                </a:solidFill>
              </a:rPr>
              <a:t/>
            </a:r>
          </a:p>
          <a:p>
            <a:r>
              <a:rPr sz="1200">
                <a:solidFill>
                  <a:srgbClr val="404040"/>
                </a:solidFill>
              </a:rPr>
              <a:t>Bug found: Null Pointer</a:t>
            </a:r>
          </a:p>
          <a:p>
            <a:r>
              <a:rPr sz="1200">
                <a:solidFill>
                  <a:srgbClr val="404040"/>
                </a:solidFill>
              </a:rPr>
              <a:t>at line 45</a:t>
            </a:r>
          </a:p>
          <a:p>
            <a:r>
              <a:rPr sz="1200">
                <a:solidFill>
                  <a:srgbClr val="404040"/>
                </a:solidFill>
              </a:rPr>
              <a:t/>
            </a:r>
          </a:p>
          <a:p>
            <a:r>
              <a:rPr sz="1200">
                <a:solidFill>
                  <a:srgbClr val="404040"/>
                </a:solidFill>
              </a:rPr>
              <a:t>Fixed code:</a:t>
            </a:r>
          </a:p>
          <a:p>
            <a:r>
              <a:rPr sz="1200">
                <a:solidFill>
                  <a:srgbClr val="404040"/>
                </a:solidFill>
              </a:rPr>
              <a:t>if (obj != null) {</a:t>
            </a:r>
          </a:p>
          <a:p>
            <a:r>
              <a:rPr sz="1200">
                <a:solidFill>
                  <a:srgbClr val="404040"/>
                </a:solidFill>
              </a:rPr>
              <a:t/>
            </a:r>
          </a:p>
          <a:p>
            <a:r>
              <a:rPr sz="1200">
                <a:solidFill>
                  <a:srgbClr val="404040"/>
                </a:solidFill>
              </a:rPr>
              <a:t>Reason: Object used</a:t>
            </a:r>
          </a:p>
          <a:p>
            <a:r>
              <a:rPr sz="1200">
                <a:solidFill>
                  <a:srgbClr val="404040"/>
                </a:solidFill>
              </a:rPr>
              <a:t>without null-check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Platform Walkthrough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Login &amp; Signup — 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Create an account with name, email, and password.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Login securely — passwords are encrypted.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Forgot password? Use the OTP email reset.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5760720" cy="2759550"/>
          </a:xfrm>
          <a:prstGeom prst="rect">
            <a:avLst/>
          </a:prstGeom>
        </p:spPr>
      </p:pic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5880"/>
            <a:ext cx="6035040" cy="28824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Dashboard — Your Command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See all key numbers at a glance: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Total files uploaded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Total bugs found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Critical bugs count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Fixed / In-Progress / Pending status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'How This Platform Works' guide always visible.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5880"/>
            <a:ext cx="7406640" cy="35482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Upload Files — Start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1">
                <a:solidFill>
                  <a:srgbClr val="0070C0"/>
                </a:solidFill>
              </a:rPr>
              <a:t>Supported File Types: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.py  .java  .js  .ts  .cpp  .c  .cs  (source code)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.log  .txt  (error log files)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.zip  (entire project folder)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Drag &amp; drop or click to browse.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Enable Claude AI Mode for richer results.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Maximum file size: 50 MB.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6492240" cy="31105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Bug Reports — See Every Bug in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Each bug shows: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Bug ID, Type, Severity level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File name and exact line number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Why the AI flagged this code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Suggested fix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Assigned person: Developer / QA / Analyst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Filter bugs by: Severity | Type | Status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Update status: Open -&gt; In Progress -&gt; Fixed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Download the full report as a PDF.</a:t>
            </a:r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7223760" cy="34527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Analysis History — Track All Past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See every file analyzed before: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   File name, date, bugs found, current status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Star important analyses for quick access.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Delete old records you no longer need.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Search by file name, status, or file type.</a:t>
            </a:r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7315200" cy="34778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System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Use Case Diagram — Who Uses the System?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0070C0"/>
                </a:solidFill>
              </a:rPr>
              <a:t>QA Engineer: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   Uploads files, views reports, updates bug status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1">
                <a:solidFill>
                  <a:srgbClr val="0070C0"/>
                </a:solidFill>
              </a:rPr>
              <a:t>System Admin: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   Manages user accounts and access</a:t>
            </a:r>
          </a:p>
        </p:txBody>
      </p:sp>
      <p:pic>
        <p:nvPicPr>
          <p:cNvPr id="6" name="Picture 5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5880"/>
            <a:ext cx="7406640" cy="29375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Data Flow Diagram — How Data Moves in the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How data flows through our system: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1.  QA Engineer uploads a code file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2.  System reads and preprocesses the file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3.  AI model analyzes and detects bugs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4.  Results saved to the History Store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5.  Dashboard shows results to the user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</a:rPr>
              <a:t>6.  Admin can view activity reports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25880"/>
            <a:ext cx="74066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Database Design (ERD) — What We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>
                <a:solidFill>
                  <a:srgbClr val="0070C0"/>
                </a:solidFill>
              </a:rPr>
              <a:t>Our database (MongoDB) has 5 main collections: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Users      — name, email, password, role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Uploads    — every file uploaded by users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Analysis   — each analysis run (status, time)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Bugs       — every bug found with full details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History    — record of past analyses</a:t>
            </a:r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7680960" cy="51500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How to Run the Project Locally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How to Run the Project —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1: Install Requirements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Install Python 3.9+ and Node.js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Install MongoDB (free, local database)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2: Install Python Libraries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Open terminal inside the 'backend' folder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D47A1"/>
                </a:solidFill>
              </a:rPr>
              <a:t>   Run:   pip install -r requirements.txt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3: Install Frontend Libraries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Open terminal in 'bug-detector' folder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D47A1"/>
                </a:solidFill>
              </a:rPr>
              <a:t>   Run:   npm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4: Start the Backend Server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In 'backend' folder terminal, run: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D47A1"/>
                </a:solidFill>
              </a:rPr>
              <a:t>   python app.py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Server starts at: http://localhost:5000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5: Start the Frontend Website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In 'bug-detector' folder terminal, run: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0D47A1"/>
                </a:solidFill>
              </a:rPr>
              <a:t>   npm start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Opens at: http://localhost:3000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400" b="1">
                <a:solidFill>
                  <a:srgbClr val="0070C0"/>
                </a:solidFill>
              </a:rPr>
              <a:t>STEP 6: Use the Platform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Open browser at: http://localhost:3000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404040"/>
                </a:solidFill>
              </a:rPr>
              <a:t>   Sign up -&gt; Login -&gt; Upload file -&gt; Done!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280160"/>
            <a:ext cx="12700" cy="457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70C0"/>
                </a:solidFill>
              </a:rPr>
              <a:t>Future Plans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0292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</a:rPr>
              <a:t>What We Plan to Build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Cloud Deployment       Make the platform available online — no local setup needed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Email Notifications    Automatically email developers when new bugs are found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GitHub Integration     Connect directly to code repositories for automatic scanning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Mobile App             Access bug reports from your phone anytime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More Languages         PHP, Ruby, Swift, Kotlin support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</a:rPr>
              <a:t>Advanced Analytics     Charts and trends showing bug patterns over time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45352"/>
            <a:ext cx="12188952" cy="6126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COLLEGE OF COMPUTING &amp; SOFTWARE ENGINEERING- ZUFESTM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0332720" cy="12700"/>
          </a:xfrm>
          <a:prstGeom prst="rect">
            <a:avLst/>
          </a:prstGeom>
          <a:noFill/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04040"/>
                </a:solidFill>
              </a:rPr>
              <a:t>AI-Powered Bug Detection &amp; Resolution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04040"/>
                </a:solidFill>
              </a:rPr>
              <a:t>College of Computing &amp; Software Engineering — Ziauddin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14062</TotalTime>
  <Words>654</Words>
  <Application>Microsoft Office PowerPoint</Application>
  <PresentationFormat>Widescreen</PresentationFormat>
  <Paragraphs>109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Calibri</vt:lpstr>
      <vt:lpstr>Helvetica Neue</vt:lpstr>
      <vt:lpstr>Wingdings</vt:lpstr>
      <vt:lpstr>Retrospect</vt:lpstr>
      <vt:lpstr>PowerPoint Presentation</vt:lpstr>
      <vt:lpstr> Title of the Project</vt:lpstr>
      <vt:lpstr>Contents</vt:lpstr>
      <vt:lpstr>Introduction</vt:lpstr>
      <vt:lpstr>Review of FYP Progress</vt:lpstr>
      <vt:lpstr>Review of FYP Progress</vt:lpstr>
      <vt:lpstr>Data Collection and Analysis</vt:lpstr>
      <vt:lpstr>Data Collection and Analysis</vt:lpstr>
      <vt:lpstr>Data Collection and Analysis</vt:lpstr>
      <vt:lpstr>Theory of Design/System Operation</vt:lpstr>
      <vt:lpstr>Theory of Design/System Operation</vt:lpstr>
      <vt:lpstr>Prototype Modeling</vt:lpstr>
      <vt:lpstr>Prototype Modeling</vt:lpstr>
      <vt:lpstr>Prototype Modeling</vt:lpstr>
      <vt:lpstr>Modern Tool usage</vt:lpstr>
      <vt:lpstr>Modern Tool usage</vt:lpstr>
      <vt:lpstr>Development Methodology</vt:lpstr>
      <vt:lpstr>Development Methodology</vt:lpstr>
      <vt:lpstr>Risk Analysis and Mitigation Plan</vt:lpstr>
      <vt:lpstr>Risk Analysis and Mitigation Plan</vt:lpstr>
      <vt:lpstr>Risk Analysis and Mitigation Plan</vt:lpstr>
      <vt:lpstr>Time Schedule</vt:lpstr>
      <vt:lpstr>Time Schedule</vt:lpstr>
      <vt:lpstr>Future Plan</vt:lpstr>
      <vt:lpstr>Future Plan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Abaidullah Anwar</dc:creator>
  <cp:lastModifiedBy>Waqas Saeed</cp:lastModifiedBy>
  <cp:revision>485</cp:revision>
  <cp:lastPrinted>2017-05-05T14:33:44Z</cp:lastPrinted>
  <dcterms:created xsi:type="dcterms:W3CDTF">2016-04-12T03:48:14Z</dcterms:created>
  <dcterms:modified xsi:type="dcterms:W3CDTF">2025-06-16T06:48:16Z</dcterms:modified>
</cp:coreProperties>
</file>